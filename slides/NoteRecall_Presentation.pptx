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one design decision that shapes everything: there is no language model in this project. Nothing is generated, so nothing can be invented. Say we will show where semantic search wins, where it loses, and that the honest headline is that it is a tie until you split by question type.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problem as a retrieval problem, not a chatbot problem. The right test of a notes search tool is whether it finds the note you were thinking of when you cannot remember how you phrased it. Read the quoted query aloud and say the target note contains none of those words.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land here. First, no generation means no hallucination, by construction rather than by evaluation. Second, the baseline runs over identical chunks, so any difference we report is attributable to scoring and nothing else.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write path along the top, then the read path along the bottom, and point out that both meet at the index in the middle. Stress that the index sits behind one protocol with two backends, so nothing above it knows or cares which is running.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title-prepending decision is worth dwelling on because it is measurable and non-obvious. Also flag the 512 row: 33 chunks from 33 notes means every note is one chunk, which matters when we read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point that the protocol is what allowed the retrieval code to be written and tested before anyone had a Pinecone account. Be explicit that the local backend is exact search, so its latency is not comparable with a hosted approximate service over a network.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fairness argument is the point of this slide. Same chunks, same return type, one difference. Mention that BM25 sometimes returns nothing while semantic never does, because that is the difference a user actually feels.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that this component is judged differently because it produces no numbers. Its value is that the mode switch turns an abstract comparison into something an audience can see in one click, which is exactly what we will use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P@5 looks low: most queries have one or two relevant notes, so a query with one right answer can never score above 0.2. Only the comparison between rows means anything. Then own the threat to validity before anyone raises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past this slide to get to the good one. The aggregate genuinely does not settle anything, and saying so first is what makes the next slide credible. Point at the three chunk sizes giving three different winners.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presentation exists for. Say the aggregate was a wash because the two effects cancel: semantic gains on paraphrases are almost exactly offset by keyword gains on exact tokens. Averaging them was the wrong thing to look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Resist the temptation to present 512 as the answer. Explain that at 512 the chunker is not really chunking on this corpus, which makes that row the least trustworthy number in the table even though it is the largest.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all three as things that made the report more honest rather than less impressive. The third one is the most practically useful: a method that is sometimes empty feels much worse to use than a method that is sometimes second-best.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sample size limit plainly and early, because a marker will otherwise ask. The point about significance testing being theatre at n=30 shows we thought about it rather than forgot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query one in semantic, then flip the mode radio and run it again. Let the audience see the note vanish. Then query two in keyword to show the honest reverse. Close with hybrid on query two if there is time.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routing idea, because it follows directly from our own evidence rather than from a wish list. Then hand over to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questions. If asked which method to use in production, the answer is route by query type. If asked about the corpus, concede immediately that we wrote it and that a real vault is the obvious next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967728" y="566928"/>
            <a:ext cx="7315" cy="5504688"/>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0080"/>
            <a:ext cx="6263640" cy="237744"/>
          </a:xfrm>
          <a:prstGeom prst="rect">
            <a:avLst/>
          </a:prstGeom>
          <a:noFill/>
        </p:spPr>
        <p:txBody>
          <a:bodyPr wrap="square" lIns="0" rIns="0" tIns="0" bIns="0" anchor="t">
            <a:spAutoFit/>
          </a:bodyPr>
          <a:lstStyle/>
          <a:p>
            <a:pPr algn="l"/>
            <a:r>
              <a:rPr sz="1050" b="1" i="0" spc="180">
                <a:solidFill>
                  <a:srgbClr val="0F766E"/>
                </a:solidFill>
                <a:latin typeface="Arial"/>
              </a:rPr>
              <a:t>ADVANCED ARTIFICIAL INTELLIGENCE PROJECTS IN DATA SCIENCE  •  55-710603</a:t>
            </a:r>
          </a:p>
        </p:txBody>
      </p:sp>
      <p:sp>
        <p:nvSpPr>
          <p:cNvPr id="6" name="TextBox 5"/>
          <p:cNvSpPr txBox="1"/>
          <p:nvPr/>
        </p:nvSpPr>
        <p:spPr>
          <a:xfrm>
            <a:off x="502920" y="1170432"/>
            <a:ext cx="6035040" cy="868680"/>
          </a:xfrm>
          <a:prstGeom prst="rect">
            <a:avLst/>
          </a:prstGeom>
          <a:noFill/>
        </p:spPr>
        <p:txBody>
          <a:bodyPr wrap="square" lIns="0" rIns="0" tIns="0" bIns="0" anchor="t">
            <a:spAutoFit/>
          </a:bodyPr>
          <a:lstStyle/>
          <a:p>
            <a:pPr algn="l"/>
            <a:r>
              <a:rPr sz="4600" b="1" i="0">
                <a:solidFill>
                  <a:srgbClr val="0B1F2A"/>
                </a:solidFill>
                <a:latin typeface="Arial"/>
              </a:rPr>
              <a:t>NoteRecall</a:t>
            </a:r>
          </a:p>
        </p:txBody>
      </p:sp>
      <p:sp>
        <p:nvSpPr>
          <p:cNvPr id="7" name="Rectangle 6"/>
          <p:cNvSpPr/>
          <p:nvPr/>
        </p:nvSpPr>
        <p:spPr>
          <a:xfrm>
            <a:off x="530352" y="2231136"/>
            <a:ext cx="1005840"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2505456"/>
            <a:ext cx="5852160" cy="822960"/>
          </a:xfrm>
          <a:prstGeom prst="rect">
            <a:avLst/>
          </a:prstGeom>
          <a:noFill/>
        </p:spPr>
        <p:txBody>
          <a:bodyPr wrap="square" lIns="0" rIns="0" tIns="0" bIns="0" anchor="t">
            <a:spAutoFit/>
          </a:bodyPr>
          <a:lstStyle/>
          <a:p>
            <a:pPr algn="l">
              <a:lnSpc>
                <a:spcPct val="122000"/>
              </a:lnSpc>
            </a:pPr>
            <a:r>
              <a:rPr sz="1700" b="0" i="0">
                <a:solidFill>
                  <a:srgbClr val="33475B"/>
                </a:solidFill>
                <a:latin typeface="Arial"/>
              </a:rPr>
              <a:t>Semantic Search over Personal Notes using Pinecone ANN Retrieval</a:t>
            </a:r>
          </a:p>
        </p:txBody>
      </p:sp>
      <p:sp>
        <p:nvSpPr>
          <p:cNvPr id="9" name="TextBox 8"/>
          <p:cNvSpPr txBox="1"/>
          <p:nvPr/>
        </p:nvSpPr>
        <p:spPr>
          <a:xfrm>
            <a:off x="530352" y="3547872"/>
            <a:ext cx="5852160" cy="237744"/>
          </a:xfrm>
          <a:prstGeom prst="rect">
            <a:avLst/>
          </a:prstGeom>
          <a:noFill/>
        </p:spPr>
        <p:txBody>
          <a:bodyPr wrap="square" lIns="0" rIns="0" tIns="0" bIns="0" anchor="t">
            <a:spAutoFit/>
          </a:bodyPr>
          <a:lstStyle/>
          <a:p>
            <a:pPr algn="l"/>
            <a:r>
              <a:rPr sz="1140" b="0" i="0">
                <a:solidFill>
                  <a:srgbClr val="6B7F91"/>
                </a:solidFill>
                <a:latin typeface="Arial"/>
              </a:rPr>
              <a:t>Group presentation and live demonstration</a:t>
            </a:r>
          </a:p>
        </p:txBody>
      </p:sp>
      <p:sp>
        <p:nvSpPr>
          <p:cNvPr id="10" name="TextBox 9"/>
          <p:cNvSpPr txBox="1"/>
          <p:nvPr/>
        </p:nvSpPr>
        <p:spPr>
          <a:xfrm>
            <a:off x="530352" y="3858768"/>
            <a:ext cx="5852160" cy="402336"/>
          </a:xfrm>
          <a:prstGeom prst="rect">
            <a:avLst/>
          </a:prstGeom>
          <a:noFill/>
        </p:spPr>
        <p:txBody>
          <a:bodyPr wrap="square" lIns="0" rIns="0" tIns="0" bIns="0" anchor="t">
            <a:spAutoFit/>
          </a:bodyPr>
          <a:lstStyle/>
          <a:p>
            <a:pPr algn="l">
              <a:lnSpc>
                <a:spcPct val="120000"/>
              </a:lnSpc>
            </a:pPr>
            <a:r>
              <a:rPr sz="1140" b="0" i="0">
                <a:solidFill>
                  <a:srgbClr val="6B7F91"/>
                </a:solidFill>
                <a:latin typeface="Arial"/>
              </a:rPr>
              <a:t>Retrieval only. No language model. Every result is a verbatim quote.</a:t>
            </a:r>
          </a:p>
        </p:txBody>
      </p:sp>
      <p:sp>
        <p:nvSpPr>
          <p:cNvPr id="11" name="TextBox 10"/>
          <p:cNvSpPr txBox="1"/>
          <p:nvPr/>
        </p:nvSpPr>
        <p:spPr>
          <a:xfrm>
            <a:off x="530352" y="4443984"/>
            <a:ext cx="5852160" cy="201168"/>
          </a:xfrm>
          <a:prstGeom prst="rect">
            <a:avLst/>
          </a:prstGeom>
          <a:noFill/>
        </p:spPr>
        <p:txBody>
          <a:bodyPr wrap="square" lIns="0" rIns="0" tIns="0" bIns="0" anchor="t">
            <a:spAutoFit/>
          </a:bodyPr>
          <a:lstStyle/>
          <a:p>
            <a:pPr algn="l"/>
            <a:r>
              <a:rPr sz="960" b="1" i="0" spc="140">
                <a:solidFill>
                  <a:srgbClr val="0F766E"/>
                </a:solidFill>
                <a:latin typeface="Arial"/>
              </a:rPr>
              <a:t>GROUP MEMBERS</a:t>
            </a:r>
          </a:p>
        </p:txBody>
      </p:sp>
      <p:sp>
        <p:nvSpPr>
          <p:cNvPr id="12" name="Rectangle 11"/>
          <p:cNvSpPr/>
          <p:nvPr/>
        </p:nvSpPr>
        <p:spPr>
          <a:xfrm>
            <a:off x="530352" y="4814316"/>
            <a:ext cx="41148" cy="1737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4773168"/>
            <a:ext cx="2926080" cy="219456"/>
          </a:xfrm>
          <a:prstGeom prst="rect">
            <a:avLst/>
          </a:prstGeom>
          <a:noFill/>
        </p:spPr>
        <p:txBody>
          <a:bodyPr wrap="square" lIns="0" rIns="0" tIns="0" bIns="0" anchor="t">
            <a:spAutoFit/>
          </a:bodyPr>
          <a:lstStyle/>
          <a:p>
            <a:pPr algn="l"/>
            <a:r>
              <a:rPr sz="1060" b="0" i="0">
                <a:solidFill>
                  <a:srgbClr val="33475B"/>
                </a:solidFill>
                <a:latin typeface="Arial"/>
              </a:rPr>
              <a:t>Venkat Vivek Gopisetty  C5066016</a:t>
            </a:r>
          </a:p>
        </p:txBody>
      </p:sp>
      <p:sp>
        <p:nvSpPr>
          <p:cNvPr id="14" name="Rectangle 13"/>
          <p:cNvSpPr/>
          <p:nvPr/>
        </p:nvSpPr>
        <p:spPr>
          <a:xfrm>
            <a:off x="530352" y="5134355"/>
            <a:ext cx="41148" cy="1737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5093207"/>
            <a:ext cx="2926080" cy="219456"/>
          </a:xfrm>
          <a:prstGeom prst="rect">
            <a:avLst/>
          </a:prstGeom>
          <a:noFill/>
        </p:spPr>
        <p:txBody>
          <a:bodyPr wrap="square" lIns="0" rIns="0" tIns="0" bIns="0" anchor="t">
            <a:spAutoFit/>
          </a:bodyPr>
          <a:lstStyle/>
          <a:p>
            <a:pPr algn="l"/>
            <a:r>
              <a:rPr sz="1060" b="0" i="0">
                <a:solidFill>
                  <a:srgbClr val="33475B"/>
                </a:solidFill>
                <a:latin typeface="Arial"/>
              </a:rPr>
              <a:t>Nithinreddy Duggireddy  C5066028</a:t>
            </a:r>
          </a:p>
        </p:txBody>
      </p:sp>
      <p:sp>
        <p:nvSpPr>
          <p:cNvPr id="16" name="Rectangle 15"/>
          <p:cNvSpPr/>
          <p:nvPr/>
        </p:nvSpPr>
        <p:spPr>
          <a:xfrm>
            <a:off x="530352" y="5454396"/>
            <a:ext cx="41148" cy="1737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5413248"/>
            <a:ext cx="2926080" cy="219456"/>
          </a:xfrm>
          <a:prstGeom prst="rect">
            <a:avLst/>
          </a:prstGeom>
          <a:noFill/>
        </p:spPr>
        <p:txBody>
          <a:bodyPr wrap="square" lIns="0" rIns="0" tIns="0" bIns="0" anchor="t">
            <a:spAutoFit/>
          </a:bodyPr>
          <a:lstStyle/>
          <a:p>
            <a:pPr algn="l"/>
            <a:r>
              <a:rPr sz="1060" b="0" i="0">
                <a:solidFill>
                  <a:srgbClr val="33475B"/>
                </a:solidFill>
                <a:latin typeface="Arial"/>
              </a:rPr>
              <a:t>Venugopal Raja  C5058976</a:t>
            </a:r>
          </a:p>
        </p:txBody>
      </p:sp>
      <p:sp>
        <p:nvSpPr>
          <p:cNvPr id="18" name="Rectangle 17"/>
          <p:cNvSpPr/>
          <p:nvPr/>
        </p:nvSpPr>
        <p:spPr>
          <a:xfrm>
            <a:off x="3611880" y="4814316"/>
            <a:ext cx="41148" cy="1737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58184" y="4773168"/>
            <a:ext cx="2926080" cy="219456"/>
          </a:xfrm>
          <a:prstGeom prst="rect">
            <a:avLst/>
          </a:prstGeom>
          <a:noFill/>
        </p:spPr>
        <p:txBody>
          <a:bodyPr wrap="square" lIns="0" rIns="0" tIns="0" bIns="0" anchor="t">
            <a:spAutoFit/>
          </a:bodyPr>
          <a:lstStyle/>
          <a:p>
            <a:pPr algn="l"/>
            <a:r>
              <a:rPr sz="1060" b="0" i="0">
                <a:solidFill>
                  <a:srgbClr val="33475B"/>
                </a:solidFill>
                <a:latin typeface="Arial"/>
              </a:rPr>
              <a:t>Mounika Maddula  C5061339</a:t>
            </a:r>
          </a:p>
        </p:txBody>
      </p:sp>
      <p:sp>
        <p:nvSpPr>
          <p:cNvPr id="20" name="Rectangle 19"/>
          <p:cNvSpPr/>
          <p:nvPr/>
        </p:nvSpPr>
        <p:spPr>
          <a:xfrm>
            <a:off x="3611880" y="5134355"/>
            <a:ext cx="41148" cy="1737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58184" y="5093207"/>
            <a:ext cx="2926080" cy="219456"/>
          </a:xfrm>
          <a:prstGeom prst="rect">
            <a:avLst/>
          </a:prstGeom>
          <a:noFill/>
        </p:spPr>
        <p:txBody>
          <a:bodyPr wrap="square" lIns="0" rIns="0" tIns="0" bIns="0" anchor="t">
            <a:spAutoFit/>
          </a:bodyPr>
          <a:lstStyle/>
          <a:p>
            <a:pPr algn="l"/>
            <a:r>
              <a:rPr sz="1060" b="0" i="0">
                <a:solidFill>
                  <a:srgbClr val="33475B"/>
                </a:solidFill>
                <a:latin typeface="Arial"/>
              </a:rPr>
              <a:t>Vinay Krishna Kommalapati  C5064808</a:t>
            </a:r>
          </a:p>
        </p:txBody>
      </p:sp>
      <p:sp>
        <p:nvSpPr>
          <p:cNvPr id="22" name="Rounded Rectangle 21"/>
          <p:cNvSpPr/>
          <p:nvPr/>
        </p:nvSpPr>
        <p:spPr>
          <a:xfrm>
            <a:off x="7296912" y="658368"/>
            <a:ext cx="4434840" cy="5138928"/>
          </a:xfrm>
          <a:prstGeom prst="roundRect">
            <a:avLst>
              <a:gd name="adj" fmla="val 1512"/>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09713" y="669340"/>
            <a:ext cx="440923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34656" y="877824"/>
            <a:ext cx="3959352" cy="256032"/>
          </a:xfrm>
          <a:prstGeom prst="rect">
            <a:avLst/>
          </a:prstGeom>
          <a:noFill/>
        </p:spPr>
        <p:txBody>
          <a:bodyPr wrap="square" lIns="0" rIns="0" tIns="0" bIns="0" anchor="t">
            <a:spAutoFit/>
          </a:bodyPr>
          <a:lstStyle/>
          <a:p>
            <a:pPr algn="l"/>
            <a:r>
              <a:rPr sz="1100" b="1" i="0" spc="120">
                <a:solidFill>
                  <a:srgbClr val="0F766E"/>
                </a:solidFill>
                <a:latin typeface="Arial"/>
              </a:rPr>
              <a:t>AT A GLANCE</a:t>
            </a:r>
          </a:p>
        </p:txBody>
      </p:sp>
      <p:sp>
        <p:nvSpPr>
          <p:cNvPr id="25" name="TextBox 24"/>
          <p:cNvSpPr txBox="1"/>
          <p:nvPr/>
        </p:nvSpPr>
        <p:spPr>
          <a:xfrm>
            <a:off x="7534656" y="1243584"/>
            <a:ext cx="3959352" cy="201168"/>
          </a:xfrm>
          <a:prstGeom prst="rect">
            <a:avLst/>
          </a:prstGeom>
          <a:noFill/>
        </p:spPr>
        <p:txBody>
          <a:bodyPr wrap="square" lIns="0" rIns="0" tIns="0" bIns="0" anchor="t">
            <a:spAutoFit/>
          </a:bodyPr>
          <a:lstStyle/>
          <a:p>
            <a:pPr algn="l"/>
            <a:r>
              <a:rPr sz="960" b="0" i="0" spc="100">
                <a:solidFill>
                  <a:srgbClr val="6B7F91"/>
                </a:solidFill>
                <a:latin typeface="Arial"/>
              </a:rPr>
              <a:t>CORPUS</a:t>
            </a:r>
          </a:p>
        </p:txBody>
      </p:sp>
      <p:sp>
        <p:nvSpPr>
          <p:cNvPr id="26" name="TextBox 25"/>
          <p:cNvSpPr txBox="1"/>
          <p:nvPr/>
        </p:nvSpPr>
        <p:spPr>
          <a:xfrm>
            <a:off x="7534656" y="1481328"/>
            <a:ext cx="3959352" cy="566928"/>
          </a:xfrm>
          <a:prstGeom prst="rect">
            <a:avLst/>
          </a:prstGeom>
          <a:noFill/>
        </p:spPr>
        <p:txBody>
          <a:bodyPr wrap="square" lIns="0" rIns="0" tIns="0" bIns="0" anchor="t">
            <a:spAutoFit/>
          </a:bodyPr>
          <a:lstStyle/>
          <a:p>
            <a:pPr algn="l">
              <a:lnSpc>
                <a:spcPct val="115000"/>
              </a:lnSpc>
            </a:pPr>
            <a:r>
              <a:rPr sz="1400" b="1" i="0">
                <a:solidFill>
                  <a:srgbClr val="0B1F2A"/>
                </a:solidFill>
                <a:latin typeface="Arial"/>
              </a:rPr>
              <a:t>33 markdown notes, 98 / 65 / 33 chunks</a:t>
            </a:r>
          </a:p>
        </p:txBody>
      </p:sp>
      <p:sp>
        <p:nvSpPr>
          <p:cNvPr id="27" name="TextBox 26"/>
          <p:cNvSpPr txBox="1"/>
          <p:nvPr/>
        </p:nvSpPr>
        <p:spPr>
          <a:xfrm>
            <a:off x="7534656" y="2139696"/>
            <a:ext cx="3959352" cy="201168"/>
          </a:xfrm>
          <a:prstGeom prst="rect">
            <a:avLst/>
          </a:prstGeom>
          <a:noFill/>
        </p:spPr>
        <p:txBody>
          <a:bodyPr wrap="square" lIns="0" rIns="0" tIns="0" bIns="0" anchor="t">
            <a:spAutoFit/>
          </a:bodyPr>
          <a:lstStyle/>
          <a:p>
            <a:pPr algn="l"/>
            <a:r>
              <a:rPr sz="960" b="0" i="0" spc="100">
                <a:solidFill>
                  <a:srgbClr val="6B7F91"/>
                </a:solidFill>
                <a:latin typeface="Arial"/>
              </a:rPr>
              <a:t>GOLD SET</a:t>
            </a:r>
          </a:p>
        </p:txBody>
      </p:sp>
      <p:sp>
        <p:nvSpPr>
          <p:cNvPr id="28" name="TextBox 27"/>
          <p:cNvSpPr txBox="1"/>
          <p:nvPr/>
        </p:nvSpPr>
        <p:spPr>
          <a:xfrm>
            <a:off x="7534656" y="2377439"/>
            <a:ext cx="3959352" cy="566928"/>
          </a:xfrm>
          <a:prstGeom prst="rect">
            <a:avLst/>
          </a:prstGeom>
          <a:noFill/>
        </p:spPr>
        <p:txBody>
          <a:bodyPr wrap="square" lIns="0" rIns="0" tIns="0" bIns="0" anchor="t">
            <a:spAutoFit/>
          </a:bodyPr>
          <a:lstStyle/>
          <a:p>
            <a:pPr algn="l">
              <a:lnSpc>
                <a:spcPct val="115000"/>
              </a:lnSpc>
            </a:pPr>
            <a:r>
              <a:rPr sz="1400" b="1" i="0">
                <a:solidFill>
                  <a:srgbClr val="0B1F2A"/>
                </a:solidFill>
                <a:latin typeface="Arial"/>
              </a:rPr>
              <a:t>30 hand-judged queries, note-level relevance</a:t>
            </a:r>
          </a:p>
        </p:txBody>
      </p:sp>
      <p:sp>
        <p:nvSpPr>
          <p:cNvPr id="29" name="TextBox 28"/>
          <p:cNvSpPr txBox="1"/>
          <p:nvPr/>
        </p:nvSpPr>
        <p:spPr>
          <a:xfrm>
            <a:off x="7534656" y="3035808"/>
            <a:ext cx="3959352" cy="201168"/>
          </a:xfrm>
          <a:prstGeom prst="rect">
            <a:avLst/>
          </a:prstGeom>
          <a:noFill/>
        </p:spPr>
        <p:txBody>
          <a:bodyPr wrap="square" lIns="0" rIns="0" tIns="0" bIns="0" anchor="t">
            <a:spAutoFit/>
          </a:bodyPr>
          <a:lstStyle/>
          <a:p>
            <a:pPr algn="l"/>
            <a:r>
              <a:rPr sz="960" b="0" i="0" spc="100">
                <a:solidFill>
                  <a:srgbClr val="6B7F91"/>
                </a:solidFill>
                <a:latin typeface="Arial"/>
              </a:rPr>
              <a:t>COMPARED AGAINST</a:t>
            </a:r>
          </a:p>
        </p:txBody>
      </p:sp>
      <p:sp>
        <p:nvSpPr>
          <p:cNvPr id="30" name="TextBox 29"/>
          <p:cNvSpPr txBox="1"/>
          <p:nvPr/>
        </p:nvSpPr>
        <p:spPr>
          <a:xfrm>
            <a:off x="7534656" y="3273552"/>
            <a:ext cx="3959352" cy="566928"/>
          </a:xfrm>
          <a:prstGeom prst="rect">
            <a:avLst/>
          </a:prstGeom>
          <a:noFill/>
        </p:spPr>
        <p:txBody>
          <a:bodyPr wrap="square" lIns="0" rIns="0" tIns="0" bIns="0" anchor="t">
            <a:spAutoFit/>
          </a:bodyPr>
          <a:lstStyle/>
          <a:p>
            <a:pPr algn="l">
              <a:lnSpc>
                <a:spcPct val="115000"/>
              </a:lnSpc>
            </a:pPr>
            <a:r>
              <a:rPr sz="1400" b="1" i="0">
                <a:solidFill>
                  <a:srgbClr val="0B1F2A"/>
                </a:solidFill>
                <a:latin typeface="Arial"/>
              </a:rPr>
              <a:t>BM25 over exactly the same chunks</a:t>
            </a:r>
          </a:p>
        </p:txBody>
      </p:sp>
      <p:sp>
        <p:nvSpPr>
          <p:cNvPr id="31" name="TextBox 30"/>
          <p:cNvSpPr txBox="1"/>
          <p:nvPr/>
        </p:nvSpPr>
        <p:spPr>
          <a:xfrm>
            <a:off x="7534656" y="3931920"/>
            <a:ext cx="3959352" cy="201168"/>
          </a:xfrm>
          <a:prstGeom prst="rect">
            <a:avLst/>
          </a:prstGeom>
          <a:noFill/>
        </p:spPr>
        <p:txBody>
          <a:bodyPr wrap="square" lIns="0" rIns="0" tIns="0" bIns="0" anchor="t">
            <a:spAutoFit/>
          </a:bodyPr>
          <a:lstStyle/>
          <a:p>
            <a:pPr algn="l"/>
            <a:r>
              <a:rPr sz="960" b="0" i="0" spc="100">
                <a:solidFill>
                  <a:srgbClr val="6B7F91"/>
                </a:solidFill>
                <a:latin typeface="Arial"/>
              </a:rPr>
              <a:t>HEADLINE</a:t>
            </a:r>
          </a:p>
        </p:txBody>
      </p:sp>
      <p:sp>
        <p:nvSpPr>
          <p:cNvPr id="32" name="TextBox 31"/>
          <p:cNvSpPr txBox="1"/>
          <p:nvPr/>
        </p:nvSpPr>
        <p:spPr>
          <a:xfrm>
            <a:off x="7534656" y="4169663"/>
            <a:ext cx="3959352" cy="566928"/>
          </a:xfrm>
          <a:prstGeom prst="rect">
            <a:avLst/>
          </a:prstGeom>
          <a:noFill/>
        </p:spPr>
        <p:txBody>
          <a:bodyPr wrap="square" lIns="0" rIns="0" tIns="0" bIns="0" anchor="t">
            <a:spAutoFit/>
          </a:bodyPr>
          <a:lstStyle/>
          <a:p>
            <a:pPr algn="l">
              <a:lnSpc>
                <a:spcPct val="115000"/>
              </a:lnSpc>
            </a:pPr>
            <a:r>
              <a:rPr sz="1400" b="1" i="0">
                <a:solidFill>
                  <a:srgbClr val="0B1F2A"/>
                </a:solidFill>
                <a:latin typeface="Arial"/>
              </a:rPr>
              <a:t>Aggregate is a tie. The split by question type is not.</a:t>
            </a:r>
          </a:p>
        </p:txBody>
      </p:sp>
      <p:sp>
        <p:nvSpPr>
          <p:cNvPr id="33" name="TextBox 32"/>
          <p:cNvSpPr txBox="1"/>
          <p:nvPr/>
        </p:nvSpPr>
        <p:spPr>
          <a:xfrm>
            <a:off x="7534656" y="4828031"/>
            <a:ext cx="3959352" cy="201168"/>
          </a:xfrm>
          <a:prstGeom prst="rect">
            <a:avLst/>
          </a:prstGeom>
          <a:noFill/>
        </p:spPr>
        <p:txBody>
          <a:bodyPr wrap="square" lIns="0" rIns="0" tIns="0" bIns="0" anchor="t">
            <a:spAutoFit/>
          </a:bodyPr>
          <a:lstStyle/>
          <a:p>
            <a:pPr algn="l"/>
            <a:r>
              <a:rPr sz="960" b="0" i="0" spc="100">
                <a:solidFill>
                  <a:srgbClr val="6B7F91"/>
                </a:solidFill>
                <a:latin typeface="Arial"/>
              </a:rPr>
              <a:t>RUNS</a:t>
            </a:r>
          </a:p>
        </p:txBody>
      </p:sp>
      <p:sp>
        <p:nvSpPr>
          <p:cNvPr id="34" name="TextBox 33"/>
          <p:cNvSpPr txBox="1"/>
          <p:nvPr/>
        </p:nvSpPr>
        <p:spPr>
          <a:xfrm>
            <a:off x="7534656" y="5065775"/>
            <a:ext cx="3959352" cy="566928"/>
          </a:xfrm>
          <a:prstGeom prst="rect">
            <a:avLst/>
          </a:prstGeom>
          <a:noFill/>
        </p:spPr>
        <p:txBody>
          <a:bodyPr wrap="square" lIns="0" rIns="0" tIns="0" bIns="0" anchor="t">
            <a:spAutoFit/>
          </a:bodyPr>
          <a:lstStyle/>
          <a:p>
            <a:pPr algn="l">
              <a:lnSpc>
                <a:spcPct val="115000"/>
              </a:lnSpc>
            </a:pPr>
            <a:r>
              <a:rPr sz="1400" b="1" i="0">
                <a:solidFill>
                  <a:srgbClr val="0B1F2A"/>
                </a:solidFill>
                <a:latin typeface="Arial"/>
              </a:rPr>
              <a:t>Offline, no API key, no language model</a:t>
            </a:r>
          </a:p>
        </p:txBody>
      </p:sp>
      <p:sp>
        <p:nvSpPr>
          <p:cNvPr id="35" name="TextBox 34"/>
          <p:cNvSpPr txBox="1"/>
          <p:nvPr/>
        </p:nvSpPr>
        <p:spPr>
          <a:xfrm>
            <a:off x="530352" y="6291072"/>
            <a:ext cx="10881360" cy="237744"/>
          </a:xfrm>
          <a:prstGeom prst="rect">
            <a:avLst/>
          </a:prstGeom>
          <a:noFill/>
        </p:spPr>
        <p:txBody>
          <a:bodyPr wrap="square" lIns="0" rIns="0" tIns="0" bIns="0" anchor="t">
            <a:spAutoFit/>
          </a:bodyPr>
          <a:lstStyle/>
          <a:p>
            <a:pPr algn="l"/>
            <a:r>
              <a:rPr sz="1050" b="0" i="0">
                <a:solidFill>
                  <a:srgbClr val="6B7F91"/>
                </a:solidFill>
                <a:latin typeface="Arial"/>
              </a:rPr>
              <a:t>Venkat Vivek Gopisetty  •  Nithinreddy Duggireddy  •  Venugopal Raja  •  Mounika Maddula  •  Vinay Krishna Kommalapati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Venkat Vivek Gopisetty</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PROBLEM</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Why this project exists</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You remember the idea, not the words</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Every note application searches the characters you typed. Six months later that is exactly the thing you have forgotten.</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Venkat Vivek Gopisetty  •  0:00–1:30</a:t>
            </a:r>
          </a:p>
        </p:txBody>
      </p:sp>
      <p:sp>
        <p:nvSpPr>
          <p:cNvPr id="13" name="Rounded Rectangle 12"/>
          <p:cNvSpPr/>
          <p:nvPr/>
        </p:nvSpPr>
        <p:spPr>
          <a:xfrm>
            <a:off x="6492240"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Oval 24"/>
          <p:cNvSpPr/>
          <p:nvPr/>
        </p:nvSpPr>
        <p:spPr>
          <a:xfrm>
            <a:off x="530352" y="2363724"/>
            <a:ext cx="96012" cy="9601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1" y="2286000"/>
            <a:ext cx="5577840" cy="694944"/>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Several thousand markdown files between the five of us: lecture notes, solved errors, half-finished supervision thoughts</a:t>
            </a:r>
          </a:p>
        </p:txBody>
      </p:sp>
      <p:sp>
        <p:nvSpPr>
          <p:cNvPr id="27" name="Oval 26"/>
          <p:cNvSpPr/>
          <p:nvPr/>
        </p:nvSpPr>
        <p:spPr>
          <a:xfrm>
            <a:off x="530352" y="3150108"/>
            <a:ext cx="96012" cy="9601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1" y="3072384"/>
            <a:ext cx="5577840" cy="694944"/>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Keyword search only finds a note if you reproduce its vocabulary from memory</a:t>
            </a:r>
          </a:p>
        </p:txBody>
      </p:sp>
      <p:sp>
        <p:nvSpPr>
          <p:cNvPr id="29" name="Oval 28"/>
          <p:cNvSpPr/>
          <p:nvPr/>
        </p:nvSpPr>
        <p:spPr>
          <a:xfrm>
            <a:off x="530352" y="3936491"/>
            <a:ext cx="96012" cy="9601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3858768"/>
            <a:ext cx="5577840" cy="694944"/>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Two notes can describe the same idea and share almost no words</a:t>
            </a:r>
          </a:p>
        </p:txBody>
      </p:sp>
      <p:sp>
        <p:nvSpPr>
          <p:cNvPr id="31" name="Oval 30"/>
          <p:cNvSpPr/>
          <p:nvPr/>
        </p:nvSpPr>
        <p:spPr>
          <a:xfrm>
            <a:off x="530352" y="4722876"/>
            <a:ext cx="96012" cy="9601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1" y="4645152"/>
            <a:ext cx="5577840" cy="694944"/>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A generative assistant would answer, but you could not check what it based the answer on</a:t>
            </a:r>
          </a:p>
        </p:txBody>
      </p:sp>
      <p:sp>
        <p:nvSpPr>
          <p:cNvPr id="33" name="Rounded Rectangle 32"/>
          <p:cNvSpPr/>
          <p:nvPr/>
        </p:nvSpPr>
        <p:spPr>
          <a:xfrm>
            <a:off x="6903720" y="2194560"/>
            <a:ext cx="4572000" cy="3063240"/>
          </a:xfrm>
          <a:prstGeom prst="roundRect">
            <a:avLst>
              <a:gd name="adj" fmla="val 2537"/>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16521" y="2205532"/>
            <a:ext cx="454639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41464" y="2414015"/>
            <a:ext cx="4096512" cy="256032"/>
          </a:xfrm>
          <a:prstGeom prst="rect">
            <a:avLst/>
          </a:prstGeom>
          <a:noFill/>
        </p:spPr>
        <p:txBody>
          <a:bodyPr wrap="square" lIns="0" rIns="0" tIns="0" bIns="0" anchor="t">
            <a:spAutoFit/>
          </a:bodyPr>
          <a:lstStyle/>
          <a:p>
            <a:pPr algn="l"/>
            <a:r>
              <a:rPr sz="1100" b="1" i="0" spc="120">
                <a:solidFill>
                  <a:srgbClr val="0F766E"/>
                </a:solidFill>
                <a:latin typeface="Arial"/>
              </a:rPr>
              <a:t>THE QUERY THAT MOTIVATED IT</a:t>
            </a:r>
          </a:p>
        </p:txBody>
      </p:sp>
      <p:sp>
        <p:nvSpPr>
          <p:cNvPr id="36" name="TextBox 35"/>
          <p:cNvSpPr txBox="1"/>
          <p:nvPr/>
        </p:nvSpPr>
        <p:spPr>
          <a:xfrm>
            <a:off x="7141464" y="2724912"/>
            <a:ext cx="4096512" cy="822960"/>
          </a:xfrm>
          <a:prstGeom prst="rect">
            <a:avLst/>
          </a:prstGeom>
          <a:noFill/>
        </p:spPr>
        <p:txBody>
          <a:bodyPr wrap="square" lIns="0" rIns="0" tIns="0" bIns="0" anchor="t">
            <a:spAutoFit/>
          </a:bodyPr>
          <a:lstStyle/>
          <a:p>
            <a:pPr algn="l">
              <a:lnSpc>
                <a:spcPct val="120000"/>
              </a:lnSpc>
            </a:pPr>
            <a:r>
              <a:rPr sz="1500" b="0" i="1">
                <a:solidFill>
                  <a:srgbClr val="0B1F2A"/>
                </a:solidFill>
                <a:latin typeface="Arial"/>
              </a:rPr>
              <a:t>“cutting a long document into pieces before indexing it”</a:t>
            </a:r>
          </a:p>
        </p:txBody>
      </p:sp>
      <p:sp>
        <p:nvSpPr>
          <p:cNvPr id="37" name="Rectangle 36"/>
          <p:cNvSpPr/>
          <p:nvPr/>
        </p:nvSpPr>
        <p:spPr>
          <a:xfrm>
            <a:off x="7141464" y="3657600"/>
            <a:ext cx="548640" cy="2743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41464" y="3840480"/>
            <a:ext cx="4096512" cy="1280160"/>
          </a:xfrm>
          <a:prstGeom prst="rect">
            <a:avLst/>
          </a:prstGeom>
          <a:noFill/>
        </p:spPr>
        <p:txBody>
          <a:bodyPr wrap="square" lIns="0" rIns="0" tIns="0" bIns="0" anchor="t">
            <a:spAutoFit/>
          </a:bodyPr>
          <a:lstStyle/>
          <a:p>
            <a:pPr algn="l">
              <a:lnSpc>
                <a:spcPct val="128000"/>
              </a:lnSpc>
            </a:pPr>
            <a:r>
              <a:rPr sz="1140" b="0" i="0">
                <a:solidFill>
                  <a:srgbClr val="6B7F91"/>
                </a:solidFill>
                <a:latin typeface="Arial"/>
              </a:rPr>
              <a:t>The note that answers this is chunking-strategies.md. It contains none of the words cutting, pieces or long document. Keyword search cannot reach it. That single query is the project in miniature.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Venkat Vivek Gopisetty</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SOLUTION</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What the system is</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Search by meaning, answer only by quoting</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Chunks are embedded once, the query is embedded the same way, and the nearest chunks are printed verbatim with the note they came from.</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Venkat Vivek Gopisetty  •  1:30–2:30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Rounded Rectangle 24"/>
          <p:cNvSpPr/>
          <p:nvPr/>
        </p:nvSpPr>
        <p:spPr>
          <a:xfrm>
            <a:off x="731520" y="2286000"/>
            <a:ext cx="2487168"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4321" y="2296972"/>
            <a:ext cx="2461564"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2505456"/>
            <a:ext cx="2487168" cy="384048"/>
          </a:xfrm>
          <a:prstGeom prst="rect">
            <a:avLst/>
          </a:prstGeom>
          <a:noFill/>
        </p:spPr>
        <p:txBody>
          <a:bodyPr wrap="square" lIns="0" rIns="0" tIns="0" bIns="0" anchor="t">
            <a:spAutoFit/>
          </a:bodyPr>
          <a:lstStyle/>
          <a:p>
            <a:pPr algn="ctr"/>
            <a:r>
              <a:rPr sz="2500" b="1" i="0">
                <a:solidFill>
                  <a:srgbClr val="0F766E"/>
                </a:solidFill>
                <a:latin typeface="Arial"/>
              </a:rPr>
              <a:t>33</a:t>
            </a:r>
          </a:p>
        </p:txBody>
      </p:sp>
      <p:sp>
        <p:nvSpPr>
          <p:cNvPr id="28" name="TextBox 27"/>
          <p:cNvSpPr txBox="1"/>
          <p:nvPr/>
        </p:nvSpPr>
        <p:spPr>
          <a:xfrm>
            <a:off x="731520" y="2916936"/>
            <a:ext cx="2487168" cy="237744"/>
          </a:xfrm>
          <a:prstGeom prst="rect">
            <a:avLst/>
          </a:prstGeom>
          <a:noFill/>
        </p:spPr>
        <p:txBody>
          <a:bodyPr wrap="square" lIns="0" rIns="0" tIns="0" bIns="0" anchor="t">
            <a:spAutoFit/>
          </a:bodyPr>
          <a:lstStyle/>
          <a:p>
            <a:pPr algn="ctr"/>
            <a:r>
              <a:rPr sz="940" b="0" i="0">
                <a:solidFill>
                  <a:srgbClr val="6B7F91"/>
                </a:solidFill>
                <a:latin typeface="Arial"/>
              </a:rPr>
              <a:t>notes indexed</a:t>
            </a:r>
          </a:p>
        </p:txBody>
      </p:sp>
      <p:sp>
        <p:nvSpPr>
          <p:cNvPr id="29" name="Rounded Rectangle 28"/>
          <p:cNvSpPr/>
          <p:nvPr/>
        </p:nvSpPr>
        <p:spPr>
          <a:xfrm>
            <a:off x="3401568" y="2286000"/>
            <a:ext cx="2487168"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414369" y="2296972"/>
            <a:ext cx="246156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01568" y="2505456"/>
            <a:ext cx="2487168" cy="384048"/>
          </a:xfrm>
          <a:prstGeom prst="rect">
            <a:avLst/>
          </a:prstGeom>
          <a:noFill/>
        </p:spPr>
        <p:txBody>
          <a:bodyPr wrap="square" lIns="0" rIns="0" tIns="0" bIns="0" anchor="t">
            <a:spAutoFit/>
          </a:bodyPr>
          <a:lstStyle/>
          <a:p>
            <a:pPr algn="ctr"/>
            <a:r>
              <a:rPr sz="2500" b="1" i="0">
                <a:solidFill>
                  <a:srgbClr val="0E7490"/>
                </a:solidFill>
                <a:latin typeface="Arial"/>
              </a:rPr>
              <a:t>384-d</a:t>
            </a:r>
          </a:p>
        </p:txBody>
      </p:sp>
      <p:sp>
        <p:nvSpPr>
          <p:cNvPr id="32" name="TextBox 31"/>
          <p:cNvSpPr txBox="1"/>
          <p:nvPr/>
        </p:nvSpPr>
        <p:spPr>
          <a:xfrm>
            <a:off x="3401568" y="2916936"/>
            <a:ext cx="2487168" cy="237744"/>
          </a:xfrm>
          <a:prstGeom prst="rect">
            <a:avLst/>
          </a:prstGeom>
          <a:noFill/>
        </p:spPr>
        <p:txBody>
          <a:bodyPr wrap="square" lIns="0" rIns="0" tIns="0" bIns="0" anchor="t">
            <a:spAutoFit/>
          </a:bodyPr>
          <a:lstStyle/>
          <a:p>
            <a:pPr algn="ctr"/>
            <a:r>
              <a:rPr sz="940" b="0" i="0">
                <a:solidFill>
                  <a:srgbClr val="6B7F91"/>
                </a:solidFill>
                <a:latin typeface="Arial"/>
              </a:rPr>
              <a:t>vector per chunk</a:t>
            </a:r>
          </a:p>
        </p:txBody>
      </p:sp>
      <p:sp>
        <p:nvSpPr>
          <p:cNvPr id="33" name="Rounded Rectangle 32"/>
          <p:cNvSpPr/>
          <p:nvPr/>
        </p:nvSpPr>
        <p:spPr>
          <a:xfrm>
            <a:off x="6071616" y="2286000"/>
            <a:ext cx="2487168"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84417" y="2296972"/>
            <a:ext cx="2461564"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71616" y="2505456"/>
            <a:ext cx="2487168" cy="384048"/>
          </a:xfrm>
          <a:prstGeom prst="rect">
            <a:avLst/>
          </a:prstGeom>
          <a:noFill/>
        </p:spPr>
        <p:txBody>
          <a:bodyPr wrap="square" lIns="0" rIns="0" tIns="0" bIns="0" anchor="t">
            <a:spAutoFit/>
          </a:bodyPr>
          <a:lstStyle/>
          <a:p>
            <a:pPr algn="ctr"/>
            <a:r>
              <a:rPr sz="2500" b="1" i="0">
                <a:solidFill>
                  <a:srgbClr val="B45309"/>
                </a:solidFill>
                <a:latin typeface="Arial"/>
              </a:rPr>
              <a:t>0</a:t>
            </a:r>
          </a:p>
        </p:txBody>
      </p:sp>
      <p:sp>
        <p:nvSpPr>
          <p:cNvPr id="36" name="TextBox 35"/>
          <p:cNvSpPr txBox="1"/>
          <p:nvPr/>
        </p:nvSpPr>
        <p:spPr>
          <a:xfrm>
            <a:off x="6071616" y="2916936"/>
            <a:ext cx="2487168" cy="237744"/>
          </a:xfrm>
          <a:prstGeom prst="rect">
            <a:avLst/>
          </a:prstGeom>
          <a:noFill/>
        </p:spPr>
        <p:txBody>
          <a:bodyPr wrap="square" lIns="0" rIns="0" tIns="0" bIns="0" anchor="t">
            <a:spAutoFit/>
          </a:bodyPr>
          <a:lstStyle/>
          <a:p>
            <a:pPr algn="ctr"/>
            <a:r>
              <a:rPr sz="940" b="0" i="0">
                <a:solidFill>
                  <a:srgbClr val="6B7F91"/>
                </a:solidFill>
                <a:latin typeface="Arial"/>
              </a:rPr>
              <a:t>words generated</a:t>
            </a:r>
          </a:p>
        </p:txBody>
      </p:sp>
      <p:sp>
        <p:nvSpPr>
          <p:cNvPr id="37" name="Rounded Rectangle 36"/>
          <p:cNvSpPr/>
          <p:nvPr/>
        </p:nvSpPr>
        <p:spPr>
          <a:xfrm>
            <a:off x="8741664" y="2286000"/>
            <a:ext cx="2734056"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754465" y="2296972"/>
            <a:ext cx="2708452"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41664" y="2505456"/>
            <a:ext cx="2734056" cy="384048"/>
          </a:xfrm>
          <a:prstGeom prst="rect">
            <a:avLst/>
          </a:prstGeom>
          <a:noFill/>
        </p:spPr>
        <p:txBody>
          <a:bodyPr wrap="square" lIns="0" rIns="0" tIns="0" bIns="0" anchor="t">
            <a:spAutoFit/>
          </a:bodyPr>
          <a:lstStyle/>
          <a:p>
            <a:pPr algn="ctr"/>
            <a:r>
              <a:rPr sz="2500" b="1" i="0">
                <a:solidFill>
                  <a:srgbClr val="15803D"/>
                </a:solidFill>
                <a:latin typeface="Arial"/>
              </a:rPr>
              <a:t>3.0 ms</a:t>
            </a:r>
          </a:p>
        </p:txBody>
      </p:sp>
      <p:sp>
        <p:nvSpPr>
          <p:cNvPr id="40" name="TextBox 39"/>
          <p:cNvSpPr txBox="1"/>
          <p:nvPr/>
        </p:nvSpPr>
        <p:spPr>
          <a:xfrm>
            <a:off x="8741664" y="2916936"/>
            <a:ext cx="2734056" cy="237744"/>
          </a:xfrm>
          <a:prstGeom prst="rect">
            <a:avLst/>
          </a:prstGeom>
          <a:noFill/>
        </p:spPr>
        <p:txBody>
          <a:bodyPr wrap="square" lIns="0" rIns="0" tIns="0" bIns="0" anchor="t">
            <a:spAutoFit/>
          </a:bodyPr>
          <a:lstStyle/>
          <a:p>
            <a:pPr algn="ctr"/>
            <a:r>
              <a:rPr sz="940" b="0" i="0">
                <a:solidFill>
                  <a:srgbClr val="6B7F91"/>
                </a:solidFill>
                <a:latin typeface="Arial"/>
              </a:rPr>
              <a:t>median query latency</a:t>
            </a:r>
          </a:p>
        </p:txBody>
      </p:sp>
      <p:sp>
        <p:nvSpPr>
          <p:cNvPr id="41" name="Rounded Rectangle 40"/>
          <p:cNvSpPr/>
          <p:nvPr/>
        </p:nvSpPr>
        <p:spPr>
          <a:xfrm>
            <a:off x="731520" y="3639312"/>
            <a:ext cx="10744200" cy="2240280"/>
          </a:xfrm>
          <a:prstGeom prst="roundRect">
            <a:avLst>
              <a:gd name="adj" fmla="val 346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4321" y="3650284"/>
            <a:ext cx="1071859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9264" y="3858768"/>
            <a:ext cx="10268712" cy="256032"/>
          </a:xfrm>
          <a:prstGeom prst="rect">
            <a:avLst/>
          </a:prstGeom>
          <a:noFill/>
        </p:spPr>
        <p:txBody>
          <a:bodyPr wrap="square" lIns="0" rIns="0" tIns="0" bIns="0" anchor="t">
            <a:spAutoFit/>
          </a:bodyPr>
          <a:lstStyle/>
          <a:p>
            <a:pPr algn="l"/>
            <a:r>
              <a:rPr sz="1100" b="1" i="0" spc="120">
                <a:solidFill>
                  <a:srgbClr val="0F766E"/>
                </a:solidFill>
                <a:latin typeface="Arial"/>
              </a:rPr>
              <a:t>THE CLAIM WE CAN ACTUALLY DEFEND</a:t>
            </a:r>
          </a:p>
        </p:txBody>
      </p:sp>
      <p:sp>
        <p:nvSpPr>
          <p:cNvPr id="44" name="TextBox 43"/>
          <p:cNvSpPr txBox="1"/>
          <p:nvPr/>
        </p:nvSpPr>
        <p:spPr>
          <a:xfrm>
            <a:off x="969264" y="4169663"/>
            <a:ext cx="4892040" cy="1463040"/>
          </a:xfrm>
          <a:prstGeom prst="rect">
            <a:avLst/>
          </a:prstGeom>
          <a:noFill/>
        </p:spPr>
        <p:txBody>
          <a:bodyPr wrap="square" lIns="0" rIns="0" tIns="0" bIns="0" anchor="t">
            <a:spAutoFit/>
          </a:bodyPr>
          <a:lstStyle/>
          <a:p>
            <a:pPr algn="l">
              <a:lnSpc>
                <a:spcPct val="130000"/>
              </a:lnSpc>
            </a:pPr>
            <a:r>
              <a:rPr sz="1240" b="0" i="0">
                <a:solidFill>
                  <a:srgbClr val="33475B"/>
                </a:solidFill>
                <a:latin typeface="Arial"/>
              </a:rPr>
              <a:t>A tool that only ever quotes cannot fabricate. There is no faithfulness problem to evaluate and no way for it to state something you never wrote, so the whole measurement budget goes into retrieval quality instead of being split with a grader.</a:t>
            </a:r>
          </a:p>
        </p:txBody>
      </p:sp>
      <p:sp>
        <p:nvSpPr>
          <p:cNvPr id="45" name="Rectangle 44"/>
          <p:cNvSpPr/>
          <p:nvPr/>
        </p:nvSpPr>
        <p:spPr>
          <a:xfrm>
            <a:off x="6199632" y="4133087"/>
            <a:ext cx="7315" cy="123444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10528" y="4169663"/>
            <a:ext cx="4754880" cy="1463040"/>
          </a:xfrm>
          <a:prstGeom prst="rect">
            <a:avLst/>
          </a:prstGeom>
          <a:noFill/>
        </p:spPr>
        <p:txBody>
          <a:bodyPr wrap="square" lIns="0" rIns="0" tIns="0" bIns="0" anchor="t">
            <a:spAutoFit/>
          </a:bodyPr>
          <a:lstStyle/>
          <a:p>
            <a:pPr algn="l">
              <a:lnSpc>
                <a:spcPct val="130000"/>
              </a:lnSpc>
            </a:pPr>
            <a:r>
              <a:rPr sz="1240" b="0" i="0">
                <a:solidFill>
                  <a:srgbClr val="33475B"/>
                </a:solidFill>
                <a:latin typeface="Arial"/>
              </a:rPr>
              <a:t>The same chunks feed a BM25 keyword baseline, so the two arms of the comparison differ in exactly one respect: how a match is scored. That is what makes the result in the next three slides worth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Nithinreddy Duggireddy</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SYSTEM</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Architecture</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Two paths, one index</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The indexing path runs once per corpus and writes to the index. The query path runs per search and reads from it.</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Nithinreddy Duggireddy  •  2:30–3:30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TextBox 24"/>
          <p:cNvSpPr txBox="1"/>
          <p:nvPr/>
        </p:nvSpPr>
        <p:spPr>
          <a:xfrm>
            <a:off x="731520" y="2103120"/>
            <a:ext cx="4023360" cy="201168"/>
          </a:xfrm>
          <a:prstGeom prst="rect">
            <a:avLst/>
          </a:prstGeom>
          <a:noFill/>
        </p:spPr>
        <p:txBody>
          <a:bodyPr wrap="square" lIns="0" rIns="0" tIns="0" bIns="0" anchor="t">
            <a:spAutoFit/>
          </a:bodyPr>
          <a:lstStyle/>
          <a:p>
            <a:pPr algn="l"/>
            <a:r>
              <a:rPr sz="1000" b="1" i="0" spc="130">
                <a:solidFill>
                  <a:srgbClr val="0F766E"/>
                </a:solidFill>
                <a:latin typeface="Arial"/>
              </a:rPr>
              <a:t>INDEXING PATH  ·  ONCE PER CORPUS</a:t>
            </a:r>
          </a:p>
        </p:txBody>
      </p:sp>
      <p:sp>
        <p:nvSpPr>
          <p:cNvPr id="26" name="Rounded Rectangle 25"/>
          <p:cNvSpPr/>
          <p:nvPr/>
        </p:nvSpPr>
        <p:spPr>
          <a:xfrm>
            <a:off x="731520" y="2340864"/>
            <a:ext cx="2411730" cy="841248"/>
          </a:xfrm>
          <a:prstGeom prst="roundRect">
            <a:avLst>
              <a:gd name="adj" fmla="val 923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4321" y="2351836"/>
            <a:ext cx="238612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 y="2496312"/>
            <a:ext cx="457200" cy="201168"/>
          </a:xfrm>
          <a:prstGeom prst="rect">
            <a:avLst/>
          </a:prstGeom>
          <a:noFill/>
        </p:spPr>
        <p:txBody>
          <a:bodyPr wrap="square" lIns="0" rIns="0" tIns="0" bIns="0" anchor="t">
            <a:spAutoFit/>
          </a:bodyPr>
          <a:lstStyle/>
          <a:p>
            <a:pPr algn="l"/>
            <a:r>
              <a:rPr sz="950" b="1" i="0">
                <a:solidFill>
                  <a:srgbClr val="0F766E"/>
                </a:solidFill>
                <a:latin typeface="Arial"/>
              </a:rPr>
              <a:t>01</a:t>
            </a:r>
          </a:p>
        </p:txBody>
      </p:sp>
      <p:sp>
        <p:nvSpPr>
          <p:cNvPr id="29" name="TextBox 28"/>
          <p:cNvSpPr txBox="1"/>
          <p:nvPr/>
        </p:nvSpPr>
        <p:spPr>
          <a:xfrm>
            <a:off x="841248" y="2688336"/>
            <a:ext cx="2192274" cy="237744"/>
          </a:xfrm>
          <a:prstGeom prst="rect">
            <a:avLst/>
          </a:prstGeom>
          <a:noFill/>
        </p:spPr>
        <p:txBody>
          <a:bodyPr wrap="square" lIns="0" rIns="0" tIns="0" bIns="0" anchor="t">
            <a:spAutoFit/>
          </a:bodyPr>
          <a:lstStyle/>
          <a:p>
            <a:pPr algn="ctr"/>
            <a:r>
              <a:rPr sz="1250" b="1" i="0">
                <a:solidFill>
                  <a:srgbClr val="0B1F2A"/>
                </a:solidFill>
                <a:latin typeface="Arial"/>
              </a:rPr>
              <a:t>Load</a:t>
            </a:r>
          </a:p>
        </p:txBody>
      </p:sp>
      <p:sp>
        <p:nvSpPr>
          <p:cNvPr id="30" name="TextBox 29"/>
          <p:cNvSpPr txBox="1"/>
          <p:nvPr/>
        </p:nvSpPr>
        <p:spPr>
          <a:xfrm>
            <a:off x="841248" y="2944368"/>
            <a:ext cx="2192274" cy="310896"/>
          </a:xfrm>
          <a:prstGeom prst="rect">
            <a:avLst/>
          </a:prstGeom>
          <a:noFill/>
        </p:spPr>
        <p:txBody>
          <a:bodyPr wrap="square" lIns="0" rIns="0" tIns="0" bIns="0" anchor="t">
            <a:spAutoFit/>
          </a:bodyPr>
          <a:lstStyle/>
          <a:p>
            <a:pPr algn="ctr">
              <a:lnSpc>
                <a:spcPct val="106000"/>
              </a:lnSpc>
            </a:pPr>
            <a:r>
              <a:rPr sz="980" b="0" i="0">
                <a:solidFill>
                  <a:srgbClr val="6B7F91"/>
                </a:solidFill>
                <a:latin typeface="Arial"/>
              </a:rPr>
              <a:t>strip front matter
title from first H1</a:t>
            </a:r>
          </a:p>
        </p:txBody>
      </p:sp>
      <p:sp>
        <p:nvSpPr>
          <p:cNvPr id="31" name="Rounded Rectangle 30"/>
          <p:cNvSpPr/>
          <p:nvPr/>
        </p:nvSpPr>
        <p:spPr>
          <a:xfrm>
            <a:off x="3509010" y="2340864"/>
            <a:ext cx="2411730" cy="841248"/>
          </a:xfrm>
          <a:prstGeom prst="roundRect">
            <a:avLst>
              <a:gd name="adj" fmla="val 923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521811" y="2351836"/>
            <a:ext cx="238612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5314" y="2496312"/>
            <a:ext cx="457200" cy="201168"/>
          </a:xfrm>
          <a:prstGeom prst="rect">
            <a:avLst/>
          </a:prstGeom>
          <a:noFill/>
        </p:spPr>
        <p:txBody>
          <a:bodyPr wrap="square" lIns="0" rIns="0" tIns="0" bIns="0" anchor="t">
            <a:spAutoFit/>
          </a:bodyPr>
          <a:lstStyle/>
          <a:p>
            <a:pPr algn="l"/>
            <a:r>
              <a:rPr sz="950" b="1" i="0">
                <a:solidFill>
                  <a:srgbClr val="0F766E"/>
                </a:solidFill>
                <a:latin typeface="Arial"/>
              </a:rPr>
              <a:t>02</a:t>
            </a:r>
          </a:p>
        </p:txBody>
      </p:sp>
      <p:sp>
        <p:nvSpPr>
          <p:cNvPr id="34" name="TextBox 33"/>
          <p:cNvSpPr txBox="1"/>
          <p:nvPr/>
        </p:nvSpPr>
        <p:spPr>
          <a:xfrm>
            <a:off x="3618738" y="2688336"/>
            <a:ext cx="2192274" cy="237744"/>
          </a:xfrm>
          <a:prstGeom prst="rect">
            <a:avLst/>
          </a:prstGeom>
          <a:noFill/>
        </p:spPr>
        <p:txBody>
          <a:bodyPr wrap="square" lIns="0" rIns="0" tIns="0" bIns="0" anchor="t">
            <a:spAutoFit/>
          </a:bodyPr>
          <a:lstStyle/>
          <a:p>
            <a:pPr algn="ctr"/>
            <a:r>
              <a:rPr sz="1250" b="1" i="0">
                <a:solidFill>
                  <a:srgbClr val="0B1F2A"/>
                </a:solidFill>
                <a:latin typeface="Arial"/>
              </a:rPr>
              <a:t>Chunk</a:t>
            </a:r>
          </a:p>
        </p:txBody>
      </p:sp>
      <p:sp>
        <p:nvSpPr>
          <p:cNvPr id="35" name="TextBox 34"/>
          <p:cNvSpPr txBox="1"/>
          <p:nvPr/>
        </p:nvSpPr>
        <p:spPr>
          <a:xfrm>
            <a:off x="3618738" y="2944368"/>
            <a:ext cx="2192274" cy="310896"/>
          </a:xfrm>
          <a:prstGeom prst="rect">
            <a:avLst/>
          </a:prstGeom>
          <a:noFill/>
        </p:spPr>
        <p:txBody>
          <a:bodyPr wrap="square" lIns="0" rIns="0" tIns="0" bIns="0" anchor="t">
            <a:spAutoFit/>
          </a:bodyPr>
          <a:lstStyle/>
          <a:p>
            <a:pPr algn="ctr">
              <a:lnSpc>
                <a:spcPct val="106000"/>
              </a:lnSpc>
            </a:pPr>
            <a:r>
              <a:rPr sz="980" b="0" i="0">
                <a:solidFill>
                  <a:srgbClr val="6B7F91"/>
                </a:solidFill>
                <a:latin typeface="Arial"/>
              </a:rPr>
              <a:t>128 / 256 / 512 tokens
with overlap</a:t>
            </a:r>
          </a:p>
        </p:txBody>
      </p:sp>
      <p:sp>
        <p:nvSpPr>
          <p:cNvPr id="36" name="Right Arrow 35"/>
          <p:cNvSpPr/>
          <p:nvPr/>
        </p:nvSpPr>
        <p:spPr>
          <a:xfrm>
            <a:off x="3207258" y="2692908"/>
            <a:ext cx="237744" cy="137160"/>
          </a:xfrm>
          <a:prstGeom prst="rightArrow">
            <a:avLst>
              <a:gd name="adj1" fmla="val 34000"/>
              <a:gd name="adj2" fmla="val 52000"/>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286500" y="2340864"/>
            <a:ext cx="2411730" cy="841248"/>
          </a:xfrm>
          <a:prstGeom prst="roundRect">
            <a:avLst>
              <a:gd name="adj" fmla="val 923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99301" y="2351836"/>
            <a:ext cx="238612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32804" y="2496312"/>
            <a:ext cx="457200" cy="201168"/>
          </a:xfrm>
          <a:prstGeom prst="rect">
            <a:avLst/>
          </a:prstGeom>
          <a:noFill/>
        </p:spPr>
        <p:txBody>
          <a:bodyPr wrap="square" lIns="0" rIns="0" tIns="0" bIns="0" anchor="t">
            <a:spAutoFit/>
          </a:bodyPr>
          <a:lstStyle/>
          <a:p>
            <a:pPr algn="l"/>
            <a:r>
              <a:rPr sz="950" b="1" i="0">
                <a:solidFill>
                  <a:srgbClr val="0F766E"/>
                </a:solidFill>
                <a:latin typeface="Arial"/>
              </a:rPr>
              <a:t>03</a:t>
            </a:r>
          </a:p>
        </p:txBody>
      </p:sp>
      <p:sp>
        <p:nvSpPr>
          <p:cNvPr id="40" name="TextBox 39"/>
          <p:cNvSpPr txBox="1"/>
          <p:nvPr/>
        </p:nvSpPr>
        <p:spPr>
          <a:xfrm>
            <a:off x="6396228" y="2688336"/>
            <a:ext cx="2192274" cy="237744"/>
          </a:xfrm>
          <a:prstGeom prst="rect">
            <a:avLst/>
          </a:prstGeom>
          <a:noFill/>
        </p:spPr>
        <p:txBody>
          <a:bodyPr wrap="square" lIns="0" rIns="0" tIns="0" bIns="0" anchor="t">
            <a:spAutoFit/>
          </a:bodyPr>
          <a:lstStyle/>
          <a:p>
            <a:pPr algn="ctr"/>
            <a:r>
              <a:rPr sz="1250" b="1" i="0">
                <a:solidFill>
                  <a:srgbClr val="0B1F2A"/>
                </a:solidFill>
                <a:latin typeface="Arial"/>
              </a:rPr>
              <a:t>Embed</a:t>
            </a:r>
          </a:p>
        </p:txBody>
      </p:sp>
      <p:sp>
        <p:nvSpPr>
          <p:cNvPr id="41" name="TextBox 40"/>
          <p:cNvSpPr txBox="1"/>
          <p:nvPr/>
        </p:nvSpPr>
        <p:spPr>
          <a:xfrm>
            <a:off x="6396228" y="2944368"/>
            <a:ext cx="2192274" cy="310896"/>
          </a:xfrm>
          <a:prstGeom prst="rect">
            <a:avLst/>
          </a:prstGeom>
          <a:noFill/>
        </p:spPr>
        <p:txBody>
          <a:bodyPr wrap="square" lIns="0" rIns="0" tIns="0" bIns="0" anchor="t">
            <a:spAutoFit/>
          </a:bodyPr>
          <a:lstStyle/>
          <a:p>
            <a:pPr algn="ctr">
              <a:lnSpc>
                <a:spcPct val="106000"/>
              </a:lnSpc>
            </a:pPr>
            <a:r>
              <a:rPr sz="980" b="0" i="0">
                <a:solidFill>
                  <a:srgbClr val="6B7F91"/>
                </a:solidFill>
                <a:latin typeface="Arial"/>
              </a:rPr>
              <a:t>MiniLM-L6-v2
L2 normalised</a:t>
            </a:r>
          </a:p>
        </p:txBody>
      </p:sp>
      <p:sp>
        <p:nvSpPr>
          <p:cNvPr id="42" name="Right Arrow 41"/>
          <p:cNvSpPr/>
          <p:nvPr/>
        </p:nvSpPr>
        <p:spPr>
          <a:xfrm>
            <a:off x="5984748" y="2692908"/>
            <a:ext cx="237744" cy="137160"/>
          </a:xfrm>
          <a:prstGeom prst="rightArrow">
            <a:avLst>
              <a:gd name="adj1" fmla="val 34000"/>
              <a:gd name="adj2" fmla="val 52000"/>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063990" y="2340864"/>
            <a:ext cx="2411730" cy="841248"/>
          </a:xfrm>
          <a:prstGeom prst="roundRect">
            <a:avLst>
              <a:gd name="adj" fmla="val 923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076791" y="2351836"/>
            <a:ext cx="238612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10294" y="2496312"/>
            <a:ext cx="457200" cy="201168"/>
          </a:xfrm>
          <a:prstGeom prst="rect">
            <a:avLst/>
          </a:prstGeom>
          <a:noFill/>
        </p:spPr>
        <p:txBody>
          <a:bodyPr wrap="square" lIns="0" rIns="0" tIns="0" bIns="0" anchor="t">
            <a:spAutoFit/>
          </a:bodyPr>
          <a:lstStyle/>
          <a:p>
            <a:pPr algn="l"/>
            <a:r>
              <a:rPr sz="950" b="1" i="0">
                <a:solidFill>
                  <a:srgbClr val="0F766E"/>
                </a:solidFill>
                <a:latin typeface="Arial"/>
              </a:rPr>
              <a:t>04</a:t>
            </a:r>
          </a:p>
        </p:txBody>
      </p:sp>
      <p:sp>
        <p:nvSpPr>
          <p:cNvPr id="46" name="TextBox 45"/>
          <p:cNvSpPr txBox="1"/>
          <p:nvPr/>
        </p:nvSpPr>
        <p:spPr>
          <a:xfrm>
            <a:off x="9173718" y="2688336"/>
            <a:ext cx="2192274" cy="237744"/>
          </a:xfrm>
          <a:prstGeom prst="rect">
            <a:avLst/>
          </a:prstGeom>
          <a:noFill/>
        </p:spPr>
        <p:txBody>
          <a:bodyPr wrap="square" lIns="0" rIns="0" tIns="0" bIns="0" anchor="t">
            <a:spAutoFit/>
          </a:bodyPr>
          <a:lstStyle/>
          <a:p>
            <a:pPr algn="ctr"/>
            <a:r>
              <a:rPr sz="1250" b="1" i="0">
                <a:solidFill>
                  <a:srgbClr val="0B1F2A"/>
                </a:solidFill>
                <a:latin typeface="Arial"/>
              </a:rPr>
              <a:t>Upsert</a:t>
            </a:r>
          </a:p>
        </p:txBody>
      </p:sp>
      <p:sp>
        <p:nvSpPr>
          <p:cNvPr id="47" name="TextBox 46"/>
          <p:cNvSpPr txBox="1"/>
          <p:nvPr/>
        </p:nvSpPr>
        <p:spPr>
          <a:xfrm>
            <a:off x="9173718" y="2944368"/>
            <a:ext cx="2192274" cy="310896"/>
          </a:xfrm>
          <a:prstGeom prst="rect">
            <a:avLst/>
          </a:prstGeom>
          <a:noFill/>
        </p:spPr>
        <p:txBody>
          <a:bodyPr wrap="square" lIns="0" rIns="0" tIns="0" bIns="0" anchor="t">
            <a:spAutoFit/>
          </a:bodyPr>
          <a:lstStyle/>
          <a:p>
            <a:pPr algn="ctr">
              <a:lnSpc>
                <a:spcPct val="106000"/>
              </a:lnSpc>
            </a:pPr>
            <a:r>
              <a:rPr sz="980" b="0" i="0">
                <a:solidFill>
                  <a:srgbClr val="6B7F91"/>
                </a:solidFill>
                <a:latin typeface="Arial"/>
              </a:rPr>
              <a:t>batches of 100
namespace per size</a:t>
            </a:r>
          </a:p>
        </p:txBody>
      </p:sp>
      <p:sp>
        <p:nvSpPr>
          <p:cNvPr id="48" name="Right Arrow 47"/>
          <p:cNvSpPr/>
          <p:nvPr/>
        </p:nvSpPr>
        <p:spPr>
          <a:xfrm>
            <a:off x="8762238" y="2692908"/>
            <a:ext cx="237744" cy="137160"/>
          </a:xfrm>
          <a:prstGeom prst="rightArrow">
            <a:avLst>
              <a:gd name="adj1" fmla="val 34000"/>
              <a:gd name="adj2" fmla="val 52000"/>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own Arrow 48"/>
          <p:cNvSpPr/>
          <p:nvPr/>
        </p:nvSpPr>
        <p:spPr>
          <a:xfrm>
            <a:off x="10149840" y="3218688"/>
            <a:ext cx="274320" cy="237744"/>
          </a:xfrm>
          <a:prstGeom prst="downArrow">
            <a:avLst>
              <a:gd name="adj1" fmla="val 34000"/>
              <a:gd name="adj2" fmla="val 52000"/>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731520" y="3529584"/>
            <a:ext cx="10744200" cy="694944"/>
          </a:xfrm>
          <a:prstGeom prst="roundRect">
            <a:avLst>
              <a:gd name="adj" fmla="val 11184"/>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44321" y="3540556"/>
            <a:ext cx="1071859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7552" y="3703320"/>
            <a:ext cx="2377440" cy="237744"/>
          </a:xfrm>
          <a:prstGeom prst="rect">
            <a:avLst/>
          </a:prstGeom>
          <a:noFill/>
        </p:spPr>
        <p:txBody>
          <a:bodyPr wrap="square" lIns="0" rIns="0" tIns="0" bIns="0" anchor="t">
            <a:spAutoFit/>
          </a:bodyPr>
          <a:lstStyle/>
          <a:p>
            <a:pPr algn="l"/>
            <a:r>
              <a:rPr sz="1300" b="1" i="0">
                <a:solidFill>
                  <a:srgbClr val="0B1F2A"/>
                </a:solidFill>
                <a:latin typeface="Arial"/>
              </a:rPr>
              <a:t>Vector index</a:t>
            </a:r>
          </a:p>
        </p:txBody>
      </p:sp>
      <p:sp>
        <p:nvSpPr>
          <p:cNvPr id="53" name="TextBox 52"/>
          <p:cNvSpPr txBox="1"/>
          <p:nvPr/>
        </p:nvSpPr>
        <p:spPr>
          <a:xfrm>
            <a:off x="987552" y="3959352"/>
            <a:ext cx="3291840" cy="201168"/>
          </a:xfrm>
          <a:prstGeom prst="rect">
            <a:avLst/>
          </a:prstGeom>
          <a:noFill/>
        </p:spPr>
        <p:txBody>
          <a:bodyPr wrap="square" lIns="0" rIns="0" tIns="0" bIns="0" anchor="t">
            <a:spAutoFit/>
          </a:bodyPr>
          <a:lstStyle/>
          <a:p>
            <a:pPr algn="l"/>
            <a:r>
              <a:rPr sz="960" b="0" i="0">
                <a:solidFill>
                  <a:srgbClr val="6B7F91"/>
                </a:solidFill>
                <a:latin typeface="Arial"/>
              </a:rPr>
              <a:t>384-d, cosine, one namespace per chunk size</a:t>
            </a:r>
          </a:p>
        </p:txBody>
      </p:sp>
      <p:sp>
        <p:nvSpPr>
          <p:cNvPr id="54" name="TextBox 53"/>
          <p:cNvSpPr txBox="1"/>
          <p:nvPr/>
        </p:nvSpPr>
        <p:spPr>
          <a:xfrm>
            <a:off x="3840480" y="3803904"/>
            <a:ext cx="2331720" cy="219456"/>
          </a:xfrm>
          <a:prstGeom prst="rect">
            <a:avLst/>
          </a:prstGeom>
          <a:noFill/>
        </p:spPr>
        <p:txBody>
          <a:bodyPr wrap="square" lIns="0" rIns="0" tIns="0" bIns="0" anchor="t">
            <a:spAutoFit/>
          </a:bodyPr>
          <a:lstStyle/>
          <a:p>
            <a:pPr algn="r"/>
            <a:r>
              <a:rPr sz="960" b="0" i="0">
                <a:solidFill>
                  <a:srgbClr val="6B7F91"/>
                </a:solidFill>
                <a:latin typeface="Arial"/>
              </a:rPr>
              <a:t>one protocol, two backends</a:t>
            </a:r>
          </a:p>
        </p:txBody>
      </p:sp>
      <p:sp>
        <p:nvSpPr>
          <p:cNvPr id="55" name="Rounded Rectangle 54"/>
          <p:cNvSpPr/>
          <p:nvPr/>
        </p:nvSpPr>
        <p:spPr>
          <a:xfrm>
            <a:off x="6400800" y="3675887"/>
            <a:ext cx="2377440" cy="384048"/>
          </a:xfrm>
          <a:prstGeom prst="roundRect">
            <a:avLst>
              <a:gd name="adj" fmla="val 20238"/>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00800" y="3762756"/>
            <a:ext cx="2377440" cy="219456"/>
          </a:xfrm>
          <a:prstGeom prst="rect">
            <a:avLst/>
          </a:prstGeom>
          <a:noFill/>
        </p:spPr>
        <p:txBody>
          <a:bodyPr wrap="square" lIns="0" rIns="0" tIns="0" bIns="0" anchor="t">
            <a:spAutoFit/>
          </a:bodyPr>
          <a:lstStyle/>
          <a:p>
            <a:pPr algn="ctr"/>
            <a:r>
              <a:rPr sz="1060" b="0" i="0">
                <a:solidFill>
                  <a:srgbClr val="33475B"/>
                </a:solidFill>
                <a:latin typeface="Arial"/>
              </a:rPr>
              <a:t>Pinecone serverless</a:t>
            </a:r>
          </a:p>
        </p:txBody>
      </p:sp>
      <p:sp>
        <p:nvSpPr>
          <p:cNvPr id="57" name="Rounded Rectangle 56"/>
          <p:cNvSpPr/>
          <p:nvPr/>
        </p:nvSpPr>
        <p:spPr>
          <a:xfrm>
            <a:off x="9006840" y="3675887"/>
            <a:ext cx="2377440" cy="384048"/>
          </a:xfrm>
          <a:prstGeom prst="roundRect">
            <a:avLst>
              <a:gd name="adj" fmla="val 20238"/>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06840" y="3762756"/>
            <a:ext cx="2377440" cy="219456"/>
          </a:xfrm>
          <a:prstGeom prst="rect">
            <a:avLst/>
          </a:prstGeom>
          <a:noFill/>
        </p:spPr>
        <p:txBody>
          <a:bodyPr wrap="square" lIns="0" rIns="0" tIns="0" bIns="0" anchor="t">
            <a:spAutoFit/>
          </a:bodyPr>
          <a:lstStyle/>
          <a:p>
            <a:pPr algn="ctr"/>
            <a:r>
              <a:rPr sz="1060" b="0" i="0">
                <a:solidFill>
                  <a:srgbClr val="33475B"/>
                </a:solidFill>
                <a:latin typeface="Arial"/>
              </a:rPr>
              <a:t>Local numpy store</a:t>
            </a:r>
          </a:p>
        </p:txBody>
      </p:sp>
      <p:sp>
        <p:nvSpPr>
          <p:cNvPr id="59" name="Down Arrow 58"/>
          <p:cNvSpPr/>
          <p:nvPr/>
        </p:nvSpPr>
        <p:spPr>
          <a:xfrm>
            <a:off x="2011680" y="4315968"/>
            <a:ext cx="274320" cy="237744"/>
          </a:xfrm>
          <a:prstGeom prst="downArrow">
            <a:avLst>
              <a:gd name="adj1" fmla="val 34000"/>
              <a:gd name="adj2" fmla="val 52000"/>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1520" y="4626864"/>
            <a:ext cx="4023360" cy="201168"/>
          </a:xfrm>
          <a:prstGeom prst="rect">
            <a:avLst/>
          </a:prstGeom>
          <a:noFill/>
        </p:spPr>
        <p:txBody>
          <a:bodyPr wrap="square" lIns="0" rIns="0" tIns="0" bIns="0" anchor="t">
            <a:spAutoFit/>
          </a:bodyPr>
          <a:lstStyle/>
          <a:p>
            <a:pPr algn="l"/>
            <a:r>
              <a:rPr sz="1000" b="1" i="0" spc="130">
                <a:solidFill>
                  <a:srgbClr val="15803D"/>
                </a:solidFill>
                <a:latin typeface="Arial"/>
              </a:rPr>
              <a:t>QUERY PATH  ·  ONCE PER SEARCH</a:t>
            </a:r>
          </a:p>
        </p:txBody>
      </p:sp>
      <p:sp>
        <p:nvSpPr>
          <p:cNvPr id="61" name="Rounded Rectangle 60"/>
          <p:cNvSpPr/>
          <p:nvPr/>
        </p:nvSpPr>
        <p:spPr>
          <a:xfrm>
            <a:off x="731520" y="4864608"/>
            <a:ext cx="2411730" cy="841248"/>
          </a:xfrm>
          <a:prstGeom prst="roundRect">
            <a:avLst>
              <a:gd name="adj" fmla="val 923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44321" y="4875580"/>
            <a:ext cx="2386126"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77824" y="5020056"/>
            <a:ext cx="457200" cy="201168"/>
          </a:xfrm>
          <a:prstGeom prst="rect">
            <a:avLst/>
          </a:prstGeom>
          <a:noFill/>
        </p:spPr>
        <p:txBody>
          <a:bodyPr wrap="square" lIns="0" rIns="0" tIns="0" bIns="0" anchor="t">
            <a:spAutoFit/>
          </a:bodyPr>
          <a:lstStyle/>
          <a:p>
            <a:pPr algn="l"/>
            <a:r>
              <a:rPr sz="950" b="1" i="0">
                <a:solidFill>
                  <a:srgbClr val="15803D"/>
                </a:solidFill>
                <a:latin typeface="Arial"/>
              </a:rPr>
              <a:t>01</a:t>
            </a:r>
          </a:p>
        </p:txBody>
      </p:sp>
      <p:sp>
        <p:nvSpPr>
          <p:cNvPr id="64" name="TextBox 63"/>
          <p:cNvSpPr txBox="1"/>
          <p:nvPr/>
        </p:nvSpPr>
        <p:spPr>
          <a:xfrm>
            <a:off x="841248" y="5212080"/>
            <a:ext cx="2192274" cy="237744"/>
          </a:xfrm>
          <a:prstGeom prst="rect">
            <a:avLst/>
          </a:prstGeom>
          <a:noFill/>
        </p:spPr>
        <p:txBody>
          <a:bodyPr wrap="square" lIns="0" rIns="0" tIns="0" bIns="0" anchor="t">
            <a:spAutoFit/>
          </a:bodyPr>
          <a:lstStyle/>
          <a:p>
            <a:pPr algn="ctr"/>
            <a:r>
              <a:rPr sz="1250" b="1" i="0">
                <a:solidFill>
                  <a:srgbClr val="0B1F2A"/>
                </a:solidFill>
                <a:latin typeface="Arial"/>
              </a:rPr>
              <a:t>Embed query</a:t>
            </a:r>
          </a:p>
        </p:txBody>
      </p:sp>
      <p:sp>
        <p:nvSpPr>
          <p:cNvPr id="65" name="TextBox 64"/>
          <p:cNvSpPr txBox="1"/>
          <p:nvPr/>
        </p:nvSpPr>
        <p:spPr>
          <a:xfrm>
            <a:off x="841248" y="5468112"/>
            <a:ext cx="2192274" cy="310896"/>
          </a:xfrm>
          <a:prstGeom prst="rect">
            <a:avLst/>
          </a:prstGeom>
          <a:noFill/>
        </p:spPr>
        <p:txBody>
          <a:bodyPr wrap="square" lIns="0" rIns="0" tIns="0" bIns="0" anchor="t">
            <a:spAutoFit/>
          </a:bodyPr>
          <a:lstStyle/>
          <a:p>
            <a:pPr algn="ctr">
              <a:lnSpc>
                <a:spcPct val="106000"/>
              </a:lnSpc>
            </a:pPr>
            <a:r>
              <a:rPr sz="980" b="0" i="0">
                <a:solidFill>
                  <a:srgbClr val="6B7F91"/>
                </a:solidFill>
                <a:latin typeface="Arial"/>
              </a:rPr>
              <a:t>same encoder</a:t>
            </a:r>
          </a:p>
        </p:txBody>
      </p:sp>
      <p:sp>
        <p:nvSpPr>
          <p:cNvPr id="66" name="Rounded Rectangle 65"/>
          <p:cNvSpPr/>
          <p:nvPr/>
        </p:nvSpPr>
        <p:spPr>
          <a:xfrm>
            <a:off x="3509010" y="4864608"/>
            <a:ext cx="2411730" cy="841248"/>
          </a:xfrm>
          <a:prstGeom prst="roundRect">
            <a:avLst>
              <a:gd name="adj" fmla="val 923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521811" y="4875580"/>
            <a:ext cx="2386126"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55314" y="5020056"/>
            <a:ext cx="457200" cy="201168"/>
          </a:xfrm>
          <a:prstGeom prst="rect">
            <a:avLst/>
          </a:prstGeom>
          <a:noFill/>
        </p:spPr>
        <p:txBody>
          <a:bodyPr wrap="square" lIns="0" rIns="0" tIns="0" bIns="0" anchor="t">
            <a:spAutoFit/>
          </a:bodyPr>
          <a:lstStyle/>
          <a:p>
            <a:pPr algn="l"/>
            <a:r>
              <a:rPr sz="950" b="1" i="0">
                <a:solidFill>
                  <a:srgbClr val="15803D"/>
                </a:solidFill>
                <a:latin typeface="Arial"/>
              </a:rPr>
              <a:t>02</a:t>
            </a:r>
          </a:p>
        </p:txBody>
      </p:sp>
      <p:sp>
        <p:nvSpPr>
          <p:cNvPr id="69" name="TextBox 68"/>
          <p:cNvSpPr txBox="1"/>
          <p:nvPr/>
        </p:nvSpPr>
        <p:spPr>
          <a:xfrm>
            <a:off x="3618738" y="5212080"/>
            <a:ext cx="2192274" cy="237744"/>
          </a:xfrm>
          <a:prstGeom prst="rect">
            <a:avLst/>
          </a:prstGeom>
          <a:noFill/>
        </p:spPr>
        <p:txBody>
          <a:bodyPr wrap="square" lIns="0" rIns="0" tIns="0" bIns="0" anchor="t">
            <a:spAutoFit/>
          </a:bodyPr>
          <a:lstStyle/>
          <a:p>
            <a:pPr algn="ctr"/>
            <a:r>
              <a:rPr sz="1250" b="1" i="0">
                <a:solidFill>
                  <a:srgbClr val="0B1F2A"/>
                </a:solidFill>
                <a:latin typeface="Arial"/>
              </a:rPr>
              <a:t>Search</a:t>
            </a:r>
          </a:p>
        </p:txBody>
      </p:sp>
      <p:sp>
        <p:nvSpPr>
          <p:cNvPr id="70" name="TextBox 69"/>
          <p:cNvSpPr txBox="1"/>
          <p:nvPr/>
        </p:nvSpPr>
        <p:spPr>
          <a:xfrm>
            <a:off x="3618738" y="5468112"/>
            <a:ext cx="2192274" cy="310896"/>
          </a:xfrm>
          <a:prstGeom prst="rect">
            <a:avLst/>
          </a:prstGeom>
          <a:noFill/>
        </p:spPr>
        <p:txBody>
          <a:bodyPr wrap="square" lIns="0" rIns="0" tIns="0" bIns="0" anchor="t">
            <a:spAutoFit/>
          </a:bodyPr>
          <a:lstStyle/>
          <a:p>
            <a:pPr algn="ctr">
              <a:lnSpc>
                <a:spcPct val="106000"/>
              </a:lnSpc>
            </a:pPr>
            <a:r>
              <a:rPr sz="980" b="0" i="0">
                <a:solidFill>
                  <a:srgbClr val="6B7F91"/>
                </a:solidFill>
                <a:latin typeface="Arial"/>
              </a:rPr>
              <a:t>cosine top k
or BM25 over the same chunks</a:t>
            </a:r>
          </a:p>
        </p:txBody>
      </p:sp>
      <p:sp>
        <p:nvSpPr>
          <p:cNvPr id="71" name="Right Arrow 70"/>
          <p:cNvSpPr/>
          <p:nvPr/>
        </p:nvSpPr>
        <p:spPr>
          <a:xfrm>
            <a:off x="3207258" y="5216652"/>
            <a:ext cx="237744" cy="137160"/>
          </a:xfrm>
          <a:prstGeom prst="rightArrow">
            <a:avLst>
              <a:gd name="adj1" fmla="val 34000"/>
              <a:gd name="adj2" fmla="val 52000"/>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6286500" y="4864608"/>
            <a:ext cx="2411730" cy="841248"/>
          </a:xfrm>
          <a:prstGeom prst="roundRect">
            <a:avLst>
              <a:gd name="adj" fmla="val 923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99301" y="4875580"/>
            <a:ext cx="2386126"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432804" y="5020056"/>
            <a:ext cx="457200" cy="201168"/>
          </a:xfrm>
          <a:prstGeom prst="rect">
            <a:avLst/>
          </a:prstGeom>
          <a:noFill/>
        </p:spPr>
        <p:txBody>
          <a:bodyPr wrap="square" lIns="0" rIns="0" tIns="0" bIns="0" anchor="t">
            <a:spAutoFit/>
          </a:bodyPr>
          <a:lstStyle/>
          <a:p>
            <a:pPr algn="l"/>
            <a:r>
              <a:rPr sz="950" b="1" i="0">
                <a:solidFill>
                  <a:srgbClr val="15803D"/>
                </a:solidFill>
                <a:latin typeface="Arial"/>
              </a:rPr>
              <a:t>03</a:t>
            </a:r>
          </a:p>
        </p:txBody>
      </p:sp>
      <p:sp>
        <p:nvSpPr>
          <p:cNvPr id="75" name="TextBox 74"/>
          <p:cNvSpPr txBox="1"/>
          <p:nvPr/>
        </p:nvSpPr>
        <p:spPr>
          <a:xfrm>
            <a:off x="6396228" y="5212080"/>
            <a:ext cx="2192274" cy="237744"/>
          </a:xfrm>
          <a:prstGeom prst="rect">
            <a:avLst/>
          </a:prstGeom>
          <a:noFill/>
        </p:spPr>
        <p:txBody>
          <a:bodyPr wrap="square" lIns="0" rIns="0" tIns="0" bIns="0" anchor="t">
            <a:spAutoFit/>
          </a:bodyPr>
          <a:lstStyle/>
          <a:p>
            <a:pPr algn="ctr"/>
            <a:r>
              <a:rPr sz="1250" b="1" i="0">
                <a:solidFill>
                  <a:srgbClr val="0B1F2A"/>
                </a:solidFill>
                <a:latin typeface="Arial"/>
              </a:rPr>
              <a:t>Dedupe</a:t>
            </a:r>
          </a:p>
        </p:txBody>
      </p:sp>
      <p:sp>
        <p:nvSpPr>
          <p:cNvPr id="76" name="TextBox 75"/>
          <p:cNvSpPr txBox="1"/>
          <p:nvPr/>
        </p:nvSpPr>
        <p:spPr>
          <a:xfrm>
            <a:off x="6396228" y="5468112"/>
            <a:ext cx="2192274" cy="310896"/>
          </a:xfrm>
          <a:prstGeom prst="rect">
            <a:avLst/>
          </a:prstGeom>
          <a:noFill/>
        </p:spPr>
        <p:txBody>
          <a:bodyPr wrap="square" lIns="0" rIns="0" tIns="0" bIns="0" anchor="t">
            <a:spAutoFit/>
          </a:bodyPr>
          <a:lstStyle/>
          <a:p>
            <a:pPr algn="ctr">
              <a:lnSpc>
                <a:spcPct val="106000"/>
              </a:lnSpc>
            </a:pPr>
            <a:r>
              <a:rPr sz="980" b="0" i="0">
                <a:solidFill>
                  <a:srgbClr val="6B7F91"/>
                </a:solidFill>
                <a:latin typeface="Arial"/>
              </a:rPr>
              <a:t>collapse to distinct notes</a:t>
            </a:r>
          </a:p>
        </p:txBody>
      </p:sp>
      <p:sp>
        <p:nvSpPr>
          <p:cNvPr id="77" name="Right Arrow 76"/>
          <p:cNvSpPr/>
          <p:nvPr/>
        </p:nvSpPr>
        <p:spPr>
          <a:xfrm>
            <a:off x="5984748" y="5216652"/>
            <a:ext cx="237744" cy="137160"/>
          </a:xfrm>
          <a:prstGeom prst="rightArrow">
            <a:avLst>
              <a:gd name="adj1" fmla="val 34000"/>
              <a:gd name="adj2" fmla="val 52000"/>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9063990" y="4864608"/>
            <a:ext cx="2411730" cy="841248"/>
          </a:xfrm>
          <a:prstGeom prst="roundRect">
            <a:avLst>
              <a:gd name="adj" fmla="val 923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076791" y="4875580"/>
            <a:ext cx="2386126"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210294" y="5020056"/>
            <a:ext cx="457200" cy="201168"/>
          </a:xfrm>
          <a:prstGeom prst="rect">
            <a:avLst/>
          </a:prstGeom>
          <a:noFill/>
        </p:spPr>
        <p:txBody>
          <a:bodyPr wrap="square" lIns="0" rIns="0" tIns="0" bIns="0" anchor="t">
            <a:spAutoFit/>
          </a:bodyPr>
          <a:lstStyle/>
          <a:p>
            <a:pPr algn="l"/>
            <a:r>
              <a:rPr sz="950" b="1" i="0">
                <a:solidFill>
                  <a:srgbClr val="15803D"/>
                </a:solidFill>
                <a:latin typeface="Arial"/>
              </a:rPr>
              <a:t>04</a:t>
            </a:r>
          </a:p>
        </p:txBody>
      </p:sp>
      <p:sp>
        <p:nvSpPr>
          <p:cNvPr id="81" name="TextBox 80"/>
          <p:cNvSpPr txBox="1"/>
          <p:nvPr/>
        </p:nvSpPr>
        <p:spPr>
          <a:xfrm>
            <a:off x="9173718" y="5212080"/>
            <a:ext cx="2192274" cy="237744"/>
          </a:xfrm>
          <a:prstGeom prst="rect">
            <a:avLst/>
          </a:prstGeom>
          <a:noFill/>
        </p:spPr>
        <p:txBody>
          <a:bodyPr wrap="square" lIns="0" rIns="0" tIns="0" bIns="0" anchor="t">
            <a:spAutoFit/>
          </a:bodyPr>
          <a:lstStyle/>
          <a:p>
            <a:pPr algn="ctr"/>
            <a:r>
              <a:rPr sz="1250" b="1" i="0">
                <a:solidFill>
                  <a:srgbClr val="0B1F2A"/>
                </a:solidFill>
                <a:latin typeface="Arial"/>
              </a:rPr>
              <a:t>Show</a:t>
            </a:r>
          </a:p>
        </p:txBody>
      </p:sp>
      <p:sp>
        <p:nvSpPr>
          <p:cNvPr id="82" name="TextBox 81"/>
          <p:cNvSpPr txBox="1"/>
          <p:nvPr/>
        </p:nvSpPr>
        <p:spPr>
          <a:xfrm>
            <a:off x="9173718" y="5468112"/>
            <a:ext cx="2192274" cy="310896"/>
          </a:xfrm>
          <a:prstGeom prst="rect">
            <a:avLst/>
          </a:prstGeom>
          <a:noFill/>
        </p:spPr>
        <p:txBody>
          <a:bodyPr wrap="square" lIns="0" rIns="0" tIns="0" bIns="0" anchor="t">
            <a:spAutoFit/>
          </a:bodyPr>
          <a:lstStyle/>
          <a:p>
            <a:pPr algn="ctr">
              <a:lnSpc>
                <a:spcPct val="106000"/>
              </a:lnSpc>
            </a:pPr>
            <a:r>
              <a:rPr sz="980" b="0" i="0">
                <a:solidFill>
                  <a:srgbClr val="6B7F91"/>
                </a:solidFill>
                <a:latin typeface="Arial"/>
              </a:rPr>
              <a:t>verbatim snippet
+ note and score</a:t>
            </a:r>
          </a:p>
        </p:txBody>
      </p:sp>
      <p:sp>
        <p:nvSpPr>
          <p:cNvPr id="83" name="Right Arrow 82"/>
          <p:cNvSpPr/>
          <p:nvPr/>
        </p:nvSpPr>
        <p:spPr>
          <a:xfrm>
            <a:off x="8762238" y="5216652"/>
            <a:ext cx="237744" cy="137160"/>
          </a:xfrm>
          <a:prstGeom prst="rightArrow">
            <a:avLst>
              <a:gd name="adj1" fmla="val 34000"/>
              <a:gd name="adj2" fmla="val 52000"/>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31520" y="5833872"/>
            <a:ext cx="10744200" cy="438912"/>
          </a:xfrm>
          <a:prstGeom prst="rect">
            <a:avLst/>
          </a:prstGeom>
          <a:noFill/>
        </p:spPr>
        <p:txBody>
          <a:bodyPr wrap="square" lIns="0" rIns="0" tIns="0" bIns="0" anchor="t">
            <a:spAutoFit/>
          </a:bodyPr>
          <a:lstStyle/>
          <a:p>
            <a:pPr algn="l">
              <a:lnSpc>
                <a:spcPct val="120000"/>
              </a:lnSpc>
            </a:pPr>
            <a:r>
              <a:rPr sz="1060" b="0" i="0">
                <a:solidFill>
                  <a:srgbClr val="6B7F91"/>
                </a:solidFill>
                <a:latin typeface="Arial"/>
              </a:rPr>
              <a:t>Both retrieval modes consume the identical chunk set, so the comparison in this deck differs in scoring alone. Swapping Pinecone for the local store is a configuration change, not a code change.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Venkat Vivek Gopisetty</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COMPONENT 1</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Corpus ingestion and chunking</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Real notes are not uniform</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The loader has to cope with front matter, inconsistent headings and unfinished notes, because that is what a genuine vault looks like.</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Venkat Vivek Gopisetty  •  3:30–4:20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Oval 24"/>
          <p:cNvSpPr/>
          <p:nvPr/>
        </p:nvSpPr>
        <p:spPr>
          <a:xfrm>
            <a:off x="530352" y="2363724"/>
            <a:ext cx="96012" cy="9601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1" y="2286000"/>
            <a:ext cx="5394960" cy="694944"/>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YAML front matter stripped, tags kept, first H1 becomes the note title</a:t>
            </a:r>
          </a:p>
        </p:txBody>
      </p:sp>
      <p:sp>
        <p:nvSpPr>
          <p:cNvPr id="27" name="Oval 26"/>
          <p:cNvSpPr/>
          <p:nvPr/>
        </p:nvSpPr>
        <p:spPr>
          <a:xfrm>
            <a:off x="530352" y="3150108"/>
            <a:ext cx="96012" cy="9601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1" y="3072384"/>
            <a:ext cx="5394960" cy="694944"/>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Windows of N whitespace tokens with overlap carried forward, so a sentence on a boundary still appears whole somewhere</a:t>
            </a:r>
          </a:p>
        </p:txBody>
      </p:sp>
      <p:sp>
        <p:nvSpPr>
          <p:cNvPr id="29" name="Oval 28"/>
          <p:cNvSpPr/>
          <p:nvPr/>
        </p:nvSpPr>
        <p:spPr>
          <a:xfrm>
            <a:off x="530352" y="3936491"/>
            <a:ext cx="96012" cy="9601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3858768"/>
            <a:ext cx="5394960" cy="694944"/>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The note title is prepended to every chunk before embedding</a:t>
            </a:r>
          </a:p>
        </p:txBody>
      </p:sp>
      <p:sp>
        <p:nvSpPr>
          <p:cNvPr id="31" name="Oval 30"/>
          <p:cNvSpPr/>
          <p:nvPr/>
        </p:nvSpPr>
        <p:spPr>
          <a:xfrm>
            <a:off x="530352" y="4722876"/>
            <a:ext cx="96012" cy="9601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1" y="4645152"/>
            <a:ext cx="5394960" cy="694944"/>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A trailing window under 24 tokens is dropped rather than indexed alone</a:t>
            </a:r>
          </a:p>
        </p:txBody>
      </p:sp>
      <p:sp>
        <p:nvSpPr>
          <p:cNvPr id="33" name="Rounded Rectangle 32"/>
          <p:cNvSpPr/>
          <p:nvPr/>
        </p:nvSpPr>
        <p:spPr>
          <a:xfrm>
            <a:off x="6583680" y="2212848"/>
            <a:ext cx="4892040" cy="1874519"/>
          </a:xfrm>
          <a:prstGeom prst="roundRect">
            <a:avLst>
              <a:gd name="adj" fmla="val 414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596481" y="2223820"/>
            <a:ext cx="486643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2432304"/>
            <a:ext cx="4416552" cy="256032"/>
          </a:xfrm>
          <a:prstGeom prst="rect">
            <a:avLst/>
          </a:prstGeom>
          <a:noFill/>
        </p:spPr>
        <p:txBody>
          <a:bodyPr wrap="square" lIns="0" rIns="0" tIns="0" bIns="0" anchor="t">
            <a:spAutoFit/>
          </a:bodyPr>
          <a:lstStyle/>
          <a:p>
            <a:pPr algn="l"/>
            <a:r>
              <a:rPr sz="1100" b="1" i="0" spc="120">
                <a:solidFill>
                  <a:srgbClr val="0F766E"/>
                </a:solidFill>
                <a:latin typeface="Arial"/>
              </a:rPr>
              <a:t>WHY THE TITLE IS PREPENDED</a:t>
            </a:r>
          </a:p>
        </p:txBody>
      </p:sp>
      <p:sp>
        <p:nvSpPr>
          <p:cNvPr id="36" name="TextBox 35"/>
          <p:cNvSpPr txBox="1"/>
          <p:nvPr/>
        </p:nvSpPr>
        <p:spPr>
          <a:xfrm>
            <a:off x="6821424" y="2724912"/>
            <a:ext cx="4416552" cy="1143000"/>
          </a:xfrm>
          <a:prstGeom prst="rect">
            <a:avLst/>
          </a:prstGeom>
          <a:noFill/>
        </p:spPr>
        <p:txBody>
          <a:bodyPr wrap="square" lIns="0" rIns="0" tIns="0" bIns="0" anchor="t">
            <a:spAutoFit/>
          </a:bodyPr>
          <a:lstStyle/>
          <a:p>
            <a:pPr algn="l">
              <a:lnSpc>
                <a:spcPct val="125000"/>
              </a:lnSpc>
            </a:pPr>
            <a:r>
              <a:rPr sz="1160" b="0" i="0">
                <a:solidFill>
                  <a:srgbClr val="33475B"/>
                </a:solidFill>
                <a:latin typeface="Arial"/>
              </a:rPr>
              <a:t>Most notes name their subject only in the heading. Without the title, the second and third chunk of a note carry no signal about which document they belong to.</a:t>
            </a:r>
          </a:p>
        </p:txBody>
      </p:sp>
      <p:sp>
        <p:nvSpPr>
          <p:cNvPr id="37" name="Rounded Rectangle 36"/>
          <p:cNvSpPr/>
          <p:nvPr/>
        </p:nvSpPr>
        <p:spPr>
          <a:xfrm>
            <a:off x="6583680" y="4315968"/>
            <a:ext cx="4892040" cy="329184"/>
          </a:xfrm>
          <a:prstGeom prst="roundRect">
            <a:avLst>
              <a:gd name="adj" fmla="val 23611"/>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11696" y="4393692"/>
            <a:ext cx="1969617" cy="219456"/>
          </a:xfrm>
          <a:prstGeom prst="rect">
            <a:avLst/>
          </a:prstGeom>
          <a:noFill/>
        </p:spPr>
        <p:txBody>
          <a:bodyPr wrap="square" lIns="0" rIns="0" tIns="0" bIns="0" anchor="t">
            <a:spAutoFit/>
          </a:bodyPr>
          <a:lstStyle/>
          <a:p>
            <a:pPr algn="l"/>
            <a:r>
              <a:rPr sz="980" b="1" i="0" spc="80">
                <a:solidFill>
                  <a:srgbClr val="0F766E"/>
                </a:solidFill>
                <a:latin typeface="Arial"/>
              </a:rPr>
              <a:t>CHUNK SIZE</a:t>
            </a:r>
          </a:p>
        </p:txBody>
      </p:sp>
      <p:sp>
        <p:nvSpPr>
          <p:cNvPr id="39" name="TextBox 38"/>
          <p:cNvSpPr txBox="1"/>
          <p:nvPr/>
        </p:nvSpPr>
        <p:spPr>
          <a:xfrm>
            <a:off x="8864193" y="4393692"/>
            <a:ext cx="1186891" cy="219456"/>
          </a:xfrm>
          <a:prstGeom prst="rect">
            <a:avLst/>
          </a:prstGeom>
          <a:noFill/>
        </p:spPr>
        <p:txBody>
          <a:bodyPr wrap="square" lIns="0" rIns="0" tIns="0" bIns="0" anchor="t">
            <a:spAutoFit/>
          </a:bodyPr>
          <a:lstStyle/>
          <a:p>
            <a:pPr algn="l"/>
            <a:r>
              <a:rPr sz="980" b="1" i="0" spc="80">
                <a:solidFill>
                  <a:srgbClr val="0F766E"/>
                </a:solidFill>
                <a:latin typeface="Arial"/>
              </a:rPr>
              <a:t>CHUNKS</a:t>
            </a:r>
          </a:p>
        </p:txBody>
      </p:sp>
      <p:sp>
        <p:nvSpPr>
          <p:cNvPr id="40" name="TextBox 39"/>
          <p:cNvSpPr txBox="1"/>
          <p:nvPr/>
        </p:nvSpPr>
        <p:spPr>
          <a:xfrm>
            <a:off x="10233964" y="4393692"/>
            <a:ext cx="1186891" cy="219456"/>
          </a:xfrm>
          <a:prstGeom prst="rect">
            <a:avLst/>
          </a:prstGeom>
          <a:noFill/>
        </p:spPr>
        <p:txBody>
          <a:bodyPr wrap="square" lIns="0" rIns="0" tIns="0" bIns="0" anchor="t">
            <a:spAutoFit/>
          </a:bodyPr>
          <a:lstStyle/>
          <a:p>
            <a:pPr algn="l"/>
            <a:r>
              <a:rPr sz="980" b="1" i="0" spc="80">
                <a:solidFill>
                  <a:srgbClr val="0F766E"/>
                </a:solidFill>
                <a:latin typeface="Arial"/>
              </a:rPr>
              <a:t>INDEX</a:t>
            </a:r>
          </a:p>
        </p:txBody>
      </p:sp>
      <p:sp>
        <p:nvSpPr>
          <p:cNvPr id="41" name="Rectangle 40"/>
          <p:cNvSpPr/>
          <p:nvPr/>
        </p:nvSpPr>
        <p:spPr>
          <a:xfrm>
            <a:off x="6583680" y="5001768"/>
            <a:ext cx="489204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11696" y="4759452"/>
            <a:ext cx="1969617" cy="219456"/>
          </a:xfrm>
          <a:prstGeom prst="rect">
            <a:avLst/>
          </a:prstGeom>
          <a:noFill/>
        </p:spPr>
        <p:txBody>
          <a:bodyPr wrap="square" lIns="0" rIns="0" tIns="0" bIns="0" anchor="t">
            <a:spAutoFit/>
          </a:bodyPr>
          <a:lstStyle/>
          <a:p>
            <a:pPr algn="l"/>
            <a:r>
              <a:rPr sz="1080" b="1" i="0">
                <a:solidFill>
                  <a:srgbClr val="0B1F2A"/>
                </a:solidFill>
                <a:latin typeface="Arial"/>
              </a:rPr>
              <a:t>128 tokens</a:t>
            </a:r>
          </a:p>
        </p:txBody>
      </p:sp>
      <p:sp>
        <p:nvSpPr>
          <p:cNvPr id="43" name="TextBox 42"/>
          <p:cNvSpPr txBox="1"/>
          <p:nvPr/>
        </p:nvSpPr>
        <p:spPr>
          <a:xfrm>
            <a:off x="8864193" y="4759452"/>
            <a:ext cx="1186891" cy="219456"/>
          </a:xfrm>
          <a:prstGeom prst="rect">
            <a:avLst/>
          </a:prstGeom>
          <a:noFill/>
        </p:spPr>
        <p:txBody>
          <a:bodyPr wrap="square" lIns="0" rIns="0" tIns="0" bIns="0" anchor="t">
            <a:spAutoFit/>
          </a:bodyPr>
          <a:lstStyle/>
          <a:p>
            <a:pPr algn="l"/>
            <a:r>
              <a:rPr sz="1080" b="0" i="0">
                <a:solidFill>
                  <a:srgbClr val="33475B"/>
                </a:solidFill>
                <a:latin typeface="Arial"/>
              </a:rPr>
              <a:t>98</a:t>
            </a:r>
          </a:p>
        </p:txBody>
      </p:sp>
      <p:sp>
        <p:nvSpPr>
          <p:cNvPr id="44" name="TextBox 43"/>
          <p:cNvSpPr txBox="1"/>
          <p:nvPr/>
        </p:nvSpPr>
        <p:spPr>
          <a:xfrm>
            <a:off x="10233964" y="4759452"/>
            <a:ext cx="1186891" cy="219456"/>
          </a:xfrm>
          <a:prstGeom prst="rect">
            <a:avLst/>
          </a:prstGeom>
          <a:noFill/>
        </p:spPr>
        <p:txBody>
          <a:bodyPr wrap="square" lIns="0" rIns="0" tIns="0" bIns="0" anchor="t">
            <a:spAutoFit/>
          </a:bodyPr>
          <a:lstStyle/>
          <a:p>
            <a:pPr algn="l"/>
            <a:r>
              <a:rPr sz="1080" b="0" i="0">
                <a:solidFill>
                  <a:srgbClr val="33475B"/>
                </a:solidFill>
                <a:latin typeface="Arial"/>
              </a:rPr>
              <a:t>0.22 MB</a:t>
            </a:r>
          </a:p>
        </p:txBody>
      </p:sp>
      <p:sp>
        <p:nvSpPr>
          <p:cNvPr id="45" name="Rectangle 44"/>
          <p:cNvSpPr/>
          <p:nvPr/>
        </p:nvSpPr>
        <p:spPr>
          <a:xfrm>
            <a:off x="6583680" y="5349240"/>
            <a:ext cx="489204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11696" y="5106924"/>
            <a:ext cx="1969617" cy="219456"/>
          </a:xfrm>
          <a:prstGeom prst="rect">
            <a:avLst/>
          </a:prstGeom>
          <a:noFill/>
        </p:spPr>
        <p:txBody>
          <a:bodyPr wrap="square" lIns="0" rIns="0" tIns="0" bIns="0" anchor="t">
            <a:spAutoFit/>
          </a:bodyPr>
          <a:lstStyle/>
          <a:p>
            <a:pPr algn="l"/>
            <a:r>
              <a:rPr sz="1080" b="1" i="0">
                <a:solidFill>
                  <a:srgbClr val="0B1F2A"/>
                </a:solidFill>
                <a:latin typeface="Arial"/>
              </a:rPr>
              <a:t>256 tokens</a:t>
            </a:r>
          </a:p>
        </p:txBody>
      </p:sp>
      <p:sp>
        <p:nvSpPr>
          <p:cNvPr id="47" name="TextBox 46"/>
          <p:cNvSpPr txBox="1"/>
          <p:nvPr/>
        </p:nvSpPr>
        <p:spPr>
          <a:xfrm>
            <a:off x="8864193" y="5106924"/>
            <a:ext cx="1186891" cy="219456"/>
          </a:xfrm>
          <a:prstGeom prst="rect">
            <a:avLst/>
          </a:prstGeom>
          <a:noFill/>
        </p:spPr>
        <p:txBody>
          <a:bodyPr wrap="square" lIns="0" rIns="0" tIns="0" bIns="0" anchor="t">
            <a:spAutoFit/>
          </a:bodyPr>
          <a:lstStyle/>
          <a:p>
            <a:pPr algn="l"/>
            <a:r>
              <a:rPr sz="1080" b="0" i="0">
                <a:solidFill>
                  <a:srgbClr val="33475B"/>
                </a:solidFill>
                <a:latin typeface="Arial"/>
              </a:rPr>
              <a:t>65</a:t>
            </a:r>
          </a:p>
        </p:txBody>
      </p:sp>
      <p:sp>
        <p:nvSpPr>
          <p:cNvPr id="48" name="TextBox 47"/>
          <p:cNvSpPr txBox="1"/>
          <p:nvPr/>
        </p:nvSpPr>
        <p:spPr>
          <a:xfrm>
            <a:off x="10233964" y="5106924"/>
            <a:ext cx="1186891" cy="219456"/>
          </a:xfrm>
          <a:prstGeom prst="rect">
            <a:avLst/>
          </a:prstGeom>
          <a:noFill/>
        </p:spPr>
        <p:txBody>
          <a:bodyPr wrap="square" lIns="0" rIns="0" tIns="0" bIns="0" anchor="t">
            <a:spAutoFit/>
          </a:bodyPr>
          <a:lstStyle/>
          <a:p>
            <a:pPr algn="l"/>
            <a:r>
              <a:rPr sz="1080" b="0" i="0">
                <a:solidFill>
                  <a:srgbClr val="33475B"/>
                </a:solidFill>
                <a:latin typeface="Arial"/>
              </a:rPr>
              <a:t>0.17 MB</a:t>
            </a:r>
          </a:p>
        </p:txBody>
      </p:sp>
      <p:sp>
        <p:nvSpPr>
          <p:cNvPr id="49" name="Rectangle 48"/>
          <p:cNvSpPr/>
          <p:nvPr/>
        </p:nvSpPr>
        <p:spPr>
          <a:xfrm>
            <a:off x="6583680" y="5696712"/>
            <a:ext cx="489204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11696" y="5454396"/>
            <a:ext cx="1969617" cy="219456"/>
          </a:xfrm>
          <a:prstGeom prst="rect">
            <a:avLst/>
          </a:prstGeom>
          <a:noFill/>
        </p:spPr>
        <p:txBody>
          <a:bodyPr wrap="square" lIns="0" rIns="0" tIns="0" bIns="0" anchor="t">
            <a:spAutoFit/>
          </a:bodyPr>
          <a:lstStyle/>
          <a:p>
            <a:pPr algn="l"/>
            <a:r>
              <a:rPr sz="1080" b="1" i="0">
                <a:solidFill>
                  <a:srgbClr val="0B1F2A"/>
                </a:solidFill>
                <a:latin typeface="Arial"/>
              </a:rPr>
              <a:t>512 tokens</a:t>
            </a:r>
          </a:p>
        </p:txBody>
      </p:sp>
      <p:sp>
        <p:nvSpPr>
          <p:cNvPr id="51" name="TextBox 50"/>
          <p:cNvSpPr txBox="1"/>
          <p:nvPr/>
        </p:nvSpPr>
        <p:spPr>
          <a:xfrm>
            <a:off x="8864193" y="5454396"/>
            <a:ext cx="1186891" cy="219456"/>
          </a:xfrm>
          <a:prstGeom prst="rect">
            <a:avLst/>
          </a:prstGeom>
          <a:noFill/>
        </p:spPr>
        <p:txBody>
          <a:bodyPr wrap="square" lIns="0" rIns="0" tIns="0" bIns="0" anchor="t">
            <a:spAutoFit/>
          </a:bodyPr>
          <a:lstStyle/>
          <a:p>
            <a:pPr algn="l"/>
            <a:r>
              <a:rPr sz="1080" b="0" i="0">
                <a:solidFill>
                  <a:srgbClr val="33475B"/>
                </a:solidFill>
                <a:latin typeface="Arial"/>
              </a:rPr>
              <a:t>33</a:t>
            </a:r>
          </a:p>
        </p:txBody>
      </p:sp>
      <p:sp>
        <p:nvSpPr>
          <p:cNvPr id="52" name="TextBox 51"/>
          <p:cNvSpPr txBox="1"/>
          <p:nvPr/>
        </p:nvSpPr>
        <p:spPr>
          <a:xfrm>
            <a:off x="10233964" y="5454396"/>
            <a:ext cx="1186891" cy="219456"/>
          </a:xfrm>
          <a:prstGeom prst="rect">
            <a:avLst/>
          </a:prstGeom>
          <a:noFill/>
        </p:spPr>
        <p:txBody>
          <a:bodyPr wrap="square" lIns="0" rIns="0" tIns="0" bIns="0" anchor="t">
            <a:spAutoFit/>
          </a:bodyPr>
          <a:lstStyle/>
          <a:p>
            <a:pPr algn="l"/>
            <a:r>
              <a:rPr sz="1080" b="0" i="0">
                <a:solidFill>
                  <a:srgbClr val="33475B"/>
                </a:solidFill>
                <a:latin typeface="Arial"/>
              </a:rPr>
              <a:t>0.10 MB</a:t>
            </a:r>
          </a:p>
        </p:txBody>
      </p:sp>
      <p:sp>
        <p:nvSpPr>
          <p:cNvPr id="53" name="TextBox 52"/>
          <p:cNvSpPr txBox="1"/>
          <p:nvPr/>
        </p:nvSpPr>
        <p:spPr>
          <a:xfrm>
            <a:off x="530352" y="5596128"/>
            <a:ext cx="5669280" cy="502920"/>
          </a:xfrm>
          <a:prstGeom prst="rect">
            <a:avLst/>
          </a:prstGeom>
          <a:noFill/>
        </p:spPr>
        <p:txBody>
          <a:bodyPr wrap="square" lIns="0" rIns="0" tIns="0" bIns="0" anchor="t">
            <a:spAutoFit/>
          </a:bodyPr>
          <a:lstStyle/>
          <a:p>
            <a:pPr algn="l">
              <a:lnSpc>
                <a:spcPct val="120000"/>
              </a:lnSpc>
            </a:pPr>
            <a:r>
              <a:rPr sz="1080" b="0" i="0">
                <a:solidFill>
                  <a:srgbClr val="6B7F91"/>
                </a:solidFill>
                <a:latin typeface="Arial"/>
              </a:rPr>
              <a:t>Whitespace tokenisation only approximates the model tokeniser. It is a known source of imprecision and it is stated in the report rather than hidden.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Nithinreddy Duggireddy</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COMPONENT 2</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Embeddings and the vector index</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One protocol, two backends</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Vectors are unit length so a dot product is the cosine, and the chunk-size experiment is carried by the namespace rather than by separate indexes.</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Nithinreddy Duggireddy  •  4:20–5:10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Rounded Rectangle 24"/>
          <p:cNvSpPr/>
          <p:nvPr/>
        </p:nvSpPr>
        <p:spPr>
          <a:xfrm>
            <a:off x="731520" y="2249424"/>
            <a:ext cx="2487168"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4321" y="2260396"/>
            <a:ext cx="2461564"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2468880"/>
            <a:ext cx="2487168" cy="384048"/>
          </a:xfrm>
          <a:prstGeom prst="rect">
            <a:avLst/>
          </a:prstGeom>
          <a:noFill/>
        </p:spPr>
        <p:txBody>
          <a:bodyPr wrap="square" lIns="0" rIns="0" tIns="0" bIns="0" anchor="t">
            <a:spAutoFit/>
          </a:bodyPr>
          <a:lstStyle/>
          <a:p>
            <a:pPr algn="ctr"/>
            <a:r>
              <a:rPr sz="1500" b="1" i="0">
                <a:solidFill>
                  <a:srgbClr val="0F766E"/>
                </a:solidFill>
                <a:latin typeface="Arial"/>
              </a:rPr>
              <a:t>MiniLM-L6-v2</a:t>
            </a:r>
          </a:p>
        </p:txBody>
      </p:sp>
      <p:sp>
        <p:nvSpPr>
          <p:cNvPr id="28" name="TextBox 27"/>
          <p:cNvSpPr txBox="1"/>
          <p:nvPr/>
        </p:nvSpPr>
        <p:spPr>
          <a:xfrm>
            <a:off x="731520" y="2880360"/>
            <a:ext cx="2487168" cy="237744"/>
          </a:xfrm>
          <a:prstGeom prst="rect">
            <a:avLst/>
          </a:prstGeom>
          <a:noFill/>
        </p:spPr>
        <p:txBody>
          <a:bodyPr wrap="square" lIns="0" rIns="0" tIns="0" bIns="0" anchor="t">
            <a:spAutoFit/>
          </a:bodyPr>
          <a:lstStyle/>
          <a:p>
            <a:pPr algn="ctr"/>
            <a:r>
              <a:rPr sz="940" b="0" i="0">
                <a:solidFill>
                  <a:srgbClr val="6B7F91"/>
                </a:solidFill>
                <a:latin typeface="Arial"/>
              </a:rPr>
              <a:t>sentence-transformer</a:t>
            </a:r>
          </a:p>
        </p:txBody>
      </p:sp>
      <p:sp>
        <p:nvSpPr>
          <p:cNvPr id="29" name="Rounded Rectangle 28"/>
          <p:cNvSpPr/>
          <p:nvPr/>
        </p:nvSpPr>
        <p:spPr>
          <a:xfrm>
            <a:off x="3401568" y="2249424"/>
            <a:ext cx="2487168"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414369" y="2260396"/>
            <a:ext cx="246156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01568" y="2468880"/>
            <a:ext cx="2487168" cy="384048"/>
          </a:xfrm>
          <a:prstGeom prst="rect">
            <a:avLst/>
          </a:prstGeom>
          <a:noFill/>
        </p:spPr>
        <p:txBody>
          <a:bodyPr wrap="square" lIns="0" rIns="0" tIns="0" bIns="0" anchor="t">
            <a:spAutoFit/>
          </a:bodyPr>
          <a:lstStyle/>
          <a:p>
            <a:pPr algn="ctr"/>
            <a:r>
              <a:rPr sz="2500" b="1" i="0">
                <a:solidFill>
                  <a:srgbClr val="0E7490"/>
                </a:solidFill>
                <a:latin typeface="Arial"/>
              </a:rPr>
              <a:t>384</a:t>
            </a:r>
          </a:p>
        </p:txBody>
      </p:sp>
      <p:sp>
        <p:nvSpPr>
          <p:cNvPr id="32" name="TextBox 31"/>
          <p:cNvSpPr txBox="1"/>
          <p:nvPr/>
        </p:nvSpPr>
        <p:spPr>
          <a:xfrm>
            <a:off x="3401568" y="2880360"/>
            <a:ext cx="2487168" cy="237744"/>
          </a:xfrm>
          <a:prstGeom prst="rect">
            <a:avLst/>
          </a:prstGeom>
          <a:noFill/>
        </p:spPr>
        <p:txBody>
          <a:bodyPr wrap="square" lIns="0" rIns="0" tIns="0" bIns="0" anchor="t">
            <a:spAutoFit/>
          </a:bodyPr>
          <a:lstStyle/>
          <a:p>
            <a:pPr algn="ctr"/>
            <a:r>
              <a:rPr sz="940" b="0" i="0">
                <a:solidFill>
                  <a:srgbClr val="6B7F91"/>
                </a:solidFill>
                <a:latin typeface="Arial"/>
              </a:rPr>
              <a:t>dimensions per vector</a:t>
            </a:r>
          </a:p>
        </p:txBody>
      </p:sp>
      <p:sp>
        <p:nvSpPr>
          <p:cNvPr id="33" name="Rounded Rectangle 32"/>
          <p:cNvSpPr/>
          <p:nvPr/>
        </p:nvSpPr>
        <p:spPr>
          <a:xfrm>
            <a:off x="6071616" y="2249424"/>
            <a:ext cx="2487168"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84417" y="2260396"/>
            <a:ext cx="2461564" cy="457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71616" y="2468880"/>
            <a:ext cx="2487168" cy="384048"/>
          </a:xfrm>
          <a:prstGeom prst="rect">
            <a:avLst/>
          </a:prstGeom>
          <a:noFill/>
        </p:spPr>
        <p:txBody>
          <a:bodyPr wrap="square" lIns="0" rIns="0" tIns="0" bIns="0" anchor="t">
            <a:spAutoFit/>
          </a:bodyPr>
          <a:lstStyle/>
          <a:p>
            <a:pPr algn="ctr"/>
            <a:r>
              <a:rPr sz="2000" b="1" i="0">
                <a:solidFill>
                  <a:srgbClr val="6D28D9"/>
                </a:solidFill>
                <a:latin typeface="Arial"/>
              </a:rPr>
              <a:t>cosine</a:t>
            </a:r>
          </a:p>
        </p:txBody>
      </p:sp>
      <p:sp>
        <p:nvSpPr>
          <p:cNvPr id="36" name="TextBox 35"/>
          <p:cNvSpPr txBox="1"/>
          <p:nvPr/>
        </p:nvSpPr>
        <p:spPr>
          <a:xfrm>
            <a:off x="6071616" y="2880360"/>
            <a:ext cx="2487168" cy="237744"/>
          </a:xfrm>
          <a:prstGeom prst="rect">
            <a:avLst/>
          </a:prstGeom>
          <a:noFill/>
        </p:spPr>
        <p:txBody>
          <a:bodyPr wrap="square" lIns="0" rIns="0" tIns="0" bIns="0" anchor="t">
            <a:spAutoFit/>
          </a:bodyPr>
          <a:lstStyle/>
          <a:p>
            <a:pPr algn="ctr"/>
            <a:r>
              <a:rPr sz="940" b="0" i="0">
                <a:solidFill>
                  <a:srgbClr val="6B7F91"/>
                </a:solidFill>
                <a:latin typeface="Arial"/>
              </a:rPr>
              <a:t>similarity metric</a:t>
            </a:r>
          </a:p>
        </p:txBody>
      </p:sp>
      <p:sp>
        <p:nvSpPr>
          <p:cNvPr id="37" name="Rounded Rectangle 36"/>
          <p:cNvSpPr/>
          <p:nvPr/>
        </p:nvSpPr>
        <p:spPr>
          <a:xfrm>
            <a:off x="8741664" y="2249424"/>
            <a:ext cx="2734056"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754465" y="2260396"/>
            <a:ext cx="2708452"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41664" y="2468880"/>
            <a:ext cx="2734056" cy="384048"/>
          </a:xfrm>
          <a:prstGeom prst="rect">
            <a:avLst/>
          </a:prstGeom>
          <a:noFill/>
        </p:spPr>
        <p:txBody>
          <a:bodyPr wrap="square" lIns="0" rIns="0" tIns="0" bIns="0" anchor="t">
            <a:spAutoFit/>
          </a:bodyPr>
          <a:lstStyle/>
          <a:p>
            <a:pPr algn="ctr"/>
            <a:r>
              <a:rPr sz="2500" b="1" i="0">
                <a:solidFill>
                  <a:srgbClr val="B45309"/>
                </a:solidFill>
                <a:latin typeface="Arial"/>
              </a:rPr>
              <a:t>1500</a:t>
            </a:r>
          </a:p>
        </p:txBody>
      </p:sp>
      <p:sp>
        <p:nvSpPr>
          <p:cNvPr id="40" name="TextBox 39"/>
          <p:cNvSpPr txBox="1"/>
          <p:nvPr/>
        </p:nvSpPr>
        <p:spPr>
          <a:xfrm>
            <a:off x="8741664" y="2880360"/>
            <a:ext cx="2734056" cy="237744"/>
          </a:xfrm>
          <a:prstGeom prst="rect">
            <a:avLst/>
          </a:prstGeom>
          <a:noFill/>
        </p:spPr>
        <p:txBody>
          <a:bodyPr wrap="square" lIns="0" rIns="0" tIns="0" bIns="0" anchor="t">
            <a:spAutoFit/>
          </a:bodyPr>
          <a:lstStyle/>
          <a:p>
            <a:pPr algn="ctr"/>
            <a:r>
              <a:rPr sz="940" b="0" i="0">
                <a:solidFill>
                  <a:srgbClr val="6B7F91"/>
                </a:solidFill>
                <a:latin typeface="Arial"/>
              </a:rPr>
              <a:t>char metadata cap</a:t>
            </a:r>
          </a:p>
        </p:txBody>
      </p:sp>
      <p:sp>
        <p:nvSpPr>
          <p:cNvPr id="41" name="Rounded Rectangle 40"/>
          <p:cNvSpPr/>
          <p:nvPr/>
        </p:nvSpPr>
        <p:spPr>
          <a:xfrm>
            <a:off x="731520" y="3511296"/>
            <a:ext cx="5257800" cy="2359152"/>
          </a:xfrm>
          <a:prstGeom prst="roundRect">
            <a:avLst>
              <a:gd name="adj" fmla="val 3294"/>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4321" y="3522268"/>
            <a:ext cx="523219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9264" y="3730752"/>
            <a:ext cx="4782312" cy="256032"/>
          </a:xfrm>
          <a:prstGeom prst="rect">
            <a:avLst/>
          </a:prstGeom>
          <a:noFill/>
        </p:spPr>
        <p:txBody>
          <a:bodyPr wrap="square" lIns="0" rIns="0" tIns="0" bIns="0" anchor="t">
            <a:spAutoFit/>
          </a:bodyPr>
          <a:lstStyle/>
          <a:p>
            <a:pPr algn="l"/>
            <a:r>
              <a:rPr sz="1100" b="1" i="0" spc="120">
                <a:solidFill>
                  <a:srgbClr val="0F766E"/>
                </a:solidFill>
                <a:latin typeface="Arial"/>
              </a:rPr>
              <a:t>PINECONE</a:t>
            </a:r>
          </a:p>
        </p:txBody>
      </p:sp>
      <p:sp>
        <p:nvSpPr>
          <p:cNvPr id="44" name="TextBox 43"/>
          <p:cNvSpPr txBox="1"/>
          <p:nvPr/>
        </p:nvSpPr>
        <p:spPr>
          <a:xfrm>
            <a:off x="969264" y="4023360"/>
            <a:ext cx="4782312" cy="1737360"/>
          </a:xfrm>
          <a:prstGeom prst="rect">
            <a:avLst/>
          </a:prstGeom>
          <a:noFill/>
        </p:spPr>
        <p:txBody>
          <a:bodyPr wrap="square" lIns="0" rIns="0" tIns="0" bIns="0" anchor="t">
            <a:spAutoFit/>
          </a:bodyPr>
          <a:lstStyle/>
          <a:p>
            <a:pPr algn="l">
              <a:lnSpc>
                <a:spcPct val="130000"/>
              </a:lnSpc>
            </a:pPr>
            <a:r>
              <a:rPr sz="1160" b="0" i="0">
                <a:solidFill>
                  <a:srgbClr val="33475B"/>
                </a:solidFill>
                <a:latin typeface="Arial"/>
              </a:rPr>
              <a:t>Serverless index created on demand with the cosine metric, upserted in batches of 100, queried with metadata included. Namespaces chunk128 / chunk256 / chunk512 keep the three arms of the experiment apart inside one index.</a:t>
            </a:r>
          </a:p>
        </p:txBody>
      </p:sp>
      <p:sp>
        <p:nvSpPr>
          <p:cNvPr id="45" name="Rounded Rectangle 44"/>
          <p:cNvSpPr/>
          <p:nvPr/>
        </p:nvSpPr>
        <p:spPr>
          <a:xfrm>
            <a:off x="6217920" y="3511296"/>
            <a:ext cx="5257800" cy="2359152"/>
          </a:xfrm>
          <a:prstGeom prst="roundRect">
            <a:avLst>
              <a:gd name="adj" fmla="val 3294"/>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30721" y="3522268"/>
            <a:ext cx="5232196"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55664" y="3730752"/>
            <a:ext cx="4782312" cy="256032"/>
          </a:xfrm>
          <a:prstGeom prst="rect">
            <a:avLst/>
          </a:prstGeom>
          <a:noFill/>
        </p:spPr>
        <p:txBody>
          <a:bodyPr wrap="square" lIns="0" rIns="0" tIns="0" bIns="0" anchor="t">
            <a:spAutoFit/>
          </a:bodyPr>
          <a:lstStyle/>
          <a:p>
            <a:pPr algn="l"/>
            <a:r>
              <a:rPr sz="1100" b="1" i="0" spc="120">
                <a:solidFill>
                  <a:srgbClr val="15803D"/>
                </a:solidFill>
                <a:latin typeface="Arial"/>
              </a:rPr>
              <a:t>LOCAL BACKEND</a:t>
            </a:r>
          </a:p>
        </p:txBody>
      </p:sp>
      <p:sp>
        <p:nvSpPr>
          <p:cNvPr id="48" name="TextBox 47"/>
          <p:cNvSpPr txBox="1"/>
          <p:nvPr/>
        </p:nvSpPr>
        <p:spPr>
          <a:xfrm>
            <a:off x="6455664" y="4023360"/>
            <a:ext cx="4782312" cy="1737360"/>
          </a:xfrm>
          <a:prstGeom prst="rect">
            <a:avLst/>
          </a:prstGeom>
          <a:noFill/>
        </p:spPr>
        <p:txBody>
          <a:bodyPr wrap="square" lIns="0" rIns="0" tIns="0" bIns="0" anchor="t">
            <a:spAutoFit/>
          </a:bodyPr>
          <a:lstStyle/>
          <a:p>
            <a:pPr algn="l">
              <a:lnSpc>
                <a:spcPct val="130000"/>
              </a:lnSpc>
            </a:pPr>
            <a:r>
              <a:rPr sz="1160" b="0" i="0">
                <a:solidFill>
                  <a:srgbClr val="33475B"/>
                </a:solidFill>
                <a:latin typeface="Arial"/>
              </a:rPr>
              <a:t>A numpy matrix and a JSON sidecar on disk. Exact cosine through a single matmul, which makes it a correctness reference rather than a speed comparison. It is also why the whole project runs with no API key and nothing leaving the machine.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Venugopal Raja</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COMPONENT 3</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Retrieval and the BM25 baseline</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Making the comparison fair</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Both arms return the same result type over the same chunks, so nothing downstream branches on which method produced a hit.</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Venugopal Raja  •  5:10–6:00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Rounded Rectangle 24"/>
          <p:cNvSpPr/>
          <p:nvPr/>
        </p:nvSpPr>
        <p:spPr>
          <a:xfrm>
            <a:off x="731520" y="2231136"/>
            <a:ext cx="5257800" cy="2788920"/>
          </a:xfrm>
          <a:prstGeom prst="roundRect">
            <a:avLst>
              <a:gd name="adj" fmla="val 278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4321" y="2242108"/>
            <a:ext cx="523219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2450591"/>
            <a:ext cx="4782312" cy="256032"/>
          </a:xfrm>
          <a:prstGeom prst="rect">
            <a:avLst/>
          </a:prstGeom>
          <a:noFill/>
        </p:spPr>
        <p:txBody>
          <a:bodyPr wrap="square" lIns="0" rIns="0" tIns="0" bIns="0" anchor="t">
            <a:spAutoFit/>
          </a:bodyPr>
          <a:lstStyle/>
          <a:p>
            <a:pPr algn="l"/>
            <a:r>
              <a:rPr sz="1100" b="1" i="0" spc="120">
                <a:solidFill>
                  <a:srgbClr val="0F766E"/>
                </a:solidFill>
                <a:latin typeface="Arial"/>
              </a:rPr>
              <a:t>SEMANTIC</a:t>
            </a:r>
          </a:p>
        </p:txBody>
      </p:sp>
      <p:sp>
        <p:nvSpPr>
          <p:cNvPr id="28" name="TextBox 27"/>
          <p:cNvSpPr txBox="1"/>
          <p:nvPr/>
        </p:nvSpPr>
        <p:spPr>
          <a:xfrm>
            <a:off x="969264" y="2743200"/>
            <a:ext cx="4782312" cy="2103120"/>
          </a:xfrm>
          <a:prstGeom prst="rect">
            <a:avLst/>
          </a:prstGeom>
          <a:noFill/>
        </p:spPr>
        <p:txBody>
          <a:bodyPr wrap="square" lIns="0" rIns="0" tIns="0" bIns="0" anchor="t">
            <a:spAutoFit/>
          </a:bodyPr>
          <a:lstStyle/>
          <a:p>
            <a:pPr algn="l">
              <a:lnSpc>
                <a:spcPct val="130000"/>
              </a:lnSpc>
            </a:pPr>
            <a:r>
              <a:rPr sz="1180" b="0" i="0">
                <a:solidFill>
                  <a:srgbClr val="33475B"/>
                </a:solidFill>
                <a:latin typeface="Arial"/>
              </a:rPr>
              <a:t>The query is embedded with the same model and the index returns the nearest chunks by cosine. It never came back empty-handed on this gold set, because every chunk has some similarity to every query.</a:t>
            </a:r>
          </a:p>
        </p:txBody>
      </p:sp>
      <p:sp>
        <p:nvSpPr>
          <p:cNvPr id="29" name="Rounded Rectangle 28"/>
          <p:cNvSpPr/>
          <p:nvPr/>
        </p:nvSpPr>
        <p:spPr>
          <a:xfrm>
            <a:off x="6217920" y="2231136"/>
            <a:ext cx="5257800" cy="2788920"/>
          </a:xfrm>
          <a:prstGeom prst="roundRect">
            <a:avLst>
              <a:gd name="adj" fmla="val 278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0721" y="2242108"/>
            <a:ext cx="5232196"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2450591"/>
            <a:ext cx="4782312" cy="256032"/>
          </a:xfrm>
          <a:prstGeom prst="rect">
            <a:avLst/>
          </a:prstGeom>
          <a:noFill/>
        </p:spPr>
        <p:txBody>
          <a:bodyPr wrap="square" lIns="0" rIns="0" tIns="0" bIns="0" anchor="t">
            <a:spAutoFit/>
          </a:bodyPr>
          <a:lstStyle/>
          <a:p>
            <a:pPr algn="l"/>
            <a:r>
              <a:rPr sz="1100" b="1" i="0" spc="120">
                <a:solidFill>
                  <a:srgbClr val="B45309"/>
                </a:solidFill>
                <a:latin typeface="Arial"/>
              </a:rPr>
              <a:t>BM25 KEYWORD</a:t>
            </a:r>
          </a:p>
        </p:txBody>
      </p:sp>
      <p:sp>
        <p:nvSpPr>
          <p:cNvPr id="32" name="TextBox 31"/>
          <p:cNvSpPr txBox="1"/>
          <p:nvPr/>
        </p:nvSpPr>
        <p:spPr>
          <a:xfrm>
            <a:off x="6455664" y="2743200"/>
            <a:ext cx="4782312" cy="2103120"/>
          </a:xfrm>
          <a:prstGeom prst="rect">
            <a:avLst/>
          </a:prstGeom>
          <a:noFill/>
        </p:spPr>
        <p:txBody>
          <a:bodyPr wrap="square" lIns="0" rIns="0" tIns="0" bIns="0" anchor="t">
            <a:spAutoFit/>
          </a:bodyPr>
          <a:lstStyle/>
          <a:p>
            <a:pPr algn="l">
              <a:lnSpc>
                <a:spcPct val="130000"/>
              </a:lnSpc>
            </a:pPr>
            <a:r>
              <a:rPr sz="1180" b="0" i="0">
                <a:solidFill>
                  <a:srgbClr val="33475B"/>
                </a:solidFill>
                <a:latin typeface="Arial"/>
              </a:rPr>
              <a:t>Term frequency weighted by inverse document frequency. That IDF term is precisely why it wins on rare literal strings, and why it returns nothing at all when the note shares no vocabulary with the query.</a:t>
            </a:r>
          </a:p>
        </p:txBody>
      </p:sp>
      <p:sp>
        <p:nvSpPr>
          <p:cNvPr id="33" name="Rounded Rectangle 32"/>
          <p:cNvSpPr/>
          <p:nvPr/>
        </p:nvSpPr>
        <p:spPr>
          <a:xfrm>
            <a:off x="731520" y="5248656"/>
            <a:ext cx="10744200" cy="768096"/>
          </a:xfrm>
          <a:prstGeom prst="roundRect">
            <a:avLst>
              <a:gd name="adj" fmla="val 1011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4321" y="5259628"/>
            <a:ext cx="10718596" cy="457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486400"/>
            <a:ext cx="10241280" cy="411480"/>
          </a:xfrm>
          <a:prstGeom prst="rect">
            <a:avLst/>
          </a:prstGeom>
          <a:noFill/>
        </p:spPr>
        <p:txBody>
          <a:bodyPr wrap="square" lIns="0" rIns="0" tIns="0" bIns="0" anchor="t">
            <a:spAutoFit/>
          </a:bodyPr>
          <a:lstStyle/>
          <a:p>
            <a:pPr algn="l">
              <a:lnSpc>
                <a:spcPct val="120000"/>
              </a:lnSpc>
            </a:pPr>
            <a:r>
              <a:rPr sz="1160" b="0" i="0">
                <a:solidFill>
                  <a:srgbClr val="33475B"/>
                </a:solidFill>
                <a:latin typeface="Arial"/>
              </a:rPr>
              <a:t>Reciprocal rank fusion combines the two rankings without tuning a weight. It is kept deliberately secondary: it exists to show the two signals are complementary, not to claim a third headline result.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Mounika Maddula</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COMPONENT 4</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Command line and web interface</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Two front ends, one search path</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Everything a user touches goes through the same functions the evaluation harness calls, so the demo and the numbers cannot drift apart.</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Mounika Maddula  •  6:00–6:40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Rounded Rectangle 24"/>
          <p:cNvSpPr/>
          <p:nvPr/>
        </p:nvSpPr>
        <p:spPr>
          <a:xfrm>
            <a:off x="731520" y="2267712"/>
            <a:ext cx="5486400" cy="329184"/>
          </a:xfrm>
          <a:prstGeom prst="roundRect">
            <a:avLst>
              <a:gd name="adj" fmla="val 23611"/>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2345436"/>
            <a:ext cx="1572768" cy="219456"/>
          </a:xfrm>
          <a:prstGeom prst="rect">
            <a:avLst/>
          </a:prstGeom>
          <a:noFill/>
        </p:spPr>
        <p:txBody>
          <a:bodyPr wrap="square" lIns="0" rIns="0" tIns="0" bIns="0" anchor="t">
            <a:spAutoFit/>
          </a:bodyPr>
          <a:lstStyle/>
          <a:p>
            <a:pPr algn="l"/>
            <a:r>
              <a:rPr sz="980" b="1" i="0" spc="80">
                <a:solidFill>
                  <a:srgbClr val="0F766E"/>
                </a:solidFill>
                <a:latin typeface="Arial"/>
              </a:rPr>
              <a:t>COMMAND</a:t>
            </a:r>
          </a:p>
        </p:txBody>
      </p:sp>
      <p:sp>
        <p:nvSpPr>
          <p:cNvPr id="27" name="TextBox 26"/>
          <p:cNvSpPr txBox="1"/>
          <p:nvPr/>
        </p:nvSpPr>
        <p:spPr>
          <a:xfrm>
            <a:off x="2615184" y="2345436"/>
            <a:ext cx="3547872" cy="219456"/>
          </a:xfrm>
          <a:prstGeom prst="rect">
            <a:avLst/>
          </a:prstGeom>
          <a:noFill/>
        </p:spPr>
        <p:txBody>
          <a:bodyPr wrap="square" lIns="0" rIns="0" tIns="0" bIns="0" anchor="t">
            <a:spAutoFit/>
          </a:bodyPr>
          <a:lstStyle/>
          <a:p>
            <a:pPr algn="l"/>
            <a:r>
              <a:rPr sz="980" b="1" i="0" spc="80">
                <a:solidFill>
                  <a:srgbClr val="0F766E"/>
                </a:solidFill>
                <a:latin typeface="Arial"/>
              </a:rPr>
              <a:t>WHAT IT DOES</a:t>
            </a:r>
          </a:p>
        </p:txBody>
      </p:sp>
      <p:sp>
        <p:nvSpPr>
          <p:cNvPr id="28" name="Rectangle 27"/>
          <p:cNvSpPr/>
          <p:nvPr/>
        </p:nvSpPr>
        <p:spPr>
          <a:xfrm>
            <a:off x="731520" y="2953511"/>
            <a:ext cx="548640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 y="2711196"/>
            <a:ext cx="1572768" cy="219456"/>
          </a:xfrm>
          <a:prstGeom prst="rect">
            <a:avLst/>
          </a:prstGeom>
          <a:noFill/>
        </p:spPr>
        <p:txBody>
          <a:bodyPr wrap="square" lIns="0" rIns="0" tIns="0" bIns="0" anchor="t">
            <a:spAutoFit/>
          </a:bodyPr>
          <a:lstStyle/>
          <a:p>
            <a:pPr algn="l"/>
            <a:r>
              <a:rPr sz="1080" b="1" i="0">
                <a:solidFill>
                  <a:srgbClr val="0B1F2A"/>
                </a:solidFill>
                <a:latin typeface="Arial"/>
              </a:rPr>
              <a:t>index</a:t>
            </a:r>
          </a:p>
        </p:txBody>
      </p:sp>
      <p:sp>
        <p:nvSpPr>
          <p:cNvPr id="30" name="TextBox 29"/>
          <p:cNvSpPr txBox="1"/>
          <p:nvPr/>
        </p:nvSpPr>
        <p:spPr>
          <a:xfrm>
            <a:off x="2615184" y="2711196"/>
            <a:ext cx="3547872" cy="219456"/>
          </a:xfrm>
          <a:prstGeom prst="rect">
            <a:avLst/>
          </a:prstGeom>
          <a:noFill/>
        </p:spPr>
        <p:txBody>
          <a:bodyPr wrap="square" lIns="0" rIns="0" tIns="0" bIns="0" anchor="t">
            <a:spAutoFit/>
          </a:bodyPr>
          <a:lstStyle/>
          <a:p>
            <a:pPr algn="l"/>
            <a:r>
              <a:rPr sz="1080" b="0" i="0">
                <a:solidFill>
                  <a:srgbClr val="33475B"/>
                </a:solidFill>
                <a:latin typeface="Arial"/>
              </a:rPr>
              <a:t>chunk, embed and upsert</a:t>
            </a:r>
          </a:p>
        </p:txBody>
      </p:sp>
      <p:sp>
        <p:nvSpPr>
          <p:cNvPr id="31" name="Rectangle 30"/>
          <p:cNvSpPr/>
          <p:nvPr/>
        </p:nvSpPr>
        <p:spPr>
          <a:xfrm>
            <a:off x="731520" y="3300983"/>
            <a:ext cx="548640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3058668"/>
            <a:ext cx="1572768" cy="219456"/>
          </a:xfrm>
          <a:prstGeom prst="rect">
            <a:avLst/>
          </a:prstGeom>
          <a:noFill/>
        </p:spPr>
        <p:txBody>
          <a:bodyPr wrap="square" lIns="0" rIns="0" tIns="0" bIns="0" anchor="t">
            <a:spAutoFit/>
          </a:bodyPr>
          <a:lstStyle/>
          <a:p>
            <a:pPr algn="l"/>
            <a:r>
              <a:rPr sz="1080" b="1" i="0">
                <a:solidFill>
                  <a:srgbClr val="0B1F2A"/>
                </a:solidFill>
                <a:latin typeface="Arial"/>
              </a:rPr>
              <a:t>search</a:t>
            </a:r>
          </a:p>
        </p:txBody>
      </p:sp>
      <p:sp>
        <p:nvSpPr>
          <p:cNvPr id="33" name="TextBox 32"/>
          <p:cNvSpPr txBox="1"/>
          <p:nvPr/>
        </p:nvSpPr>
        <p:spPr>
          <a:xfrm>
            <a:off x="2615184" y="3058668"/>
            <a:ext cx="3547872" cy="219456"/>
          </a:xfrm>
          <a:prstGeom prst="rect">
            <a:avLst/>
          </a:prstGeom>
          <a:noFill/>
        </p:spPr>
        <p:txBody>
          <a:bodyPr wrap="square" lIns="0" rIns="0" tIns="0" bIns="0" anchor="t">
            <a:spAutoFit/>
          </a:bodyPr>
          <a:lstStyle/>
          <a:p>
            <a:pPr algn="l"/>
            <a:r>
              <a:rPr sz="1080" b="0" i="0">
                <a:solidFill>
                  <a:srgbClr val="33475B"/>
                </a:solidFill>
                <a:latin typeface="Arial"/>
              </a:rPr>
              <a:t>query in three modes</a:t>
            </a:r>
          </a:p>
        </p:txBody>
      </p:sp>
      <p:sp>
        <p:nvSpPr>
          <p:cNvPr id="34" name="Rectangle 33"/>
          <p:cNvSpPr/>
          <p:nvPr/>
        </p:nvSpPr>
        <p:spPr>
          <a:xfrm>
            <a:off x="731520" y="3648455"/>
            <a:ext cx="548640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9536" y="3406139"/>
            <a:ext cx="1572768" cy="219456"/>
          </a:xfrm>
          <a:prstGeom prst="rect">
            <a:avLst/>
          </a:prstGeom>
          <a:noFill/>
        </p:spPr>
        <p:txBody>
          <a:bodyPr wrap="square" lIns="0" rIns="0" tIns="0" bIns="0" anchor="t">
            <a:spAutoFit/>
          </a:bodyPr>
          <a:lstStyle/>
          <a:p>
            <a:pPr algn="l"/>
            <a:r>
              <a:rPr sz="1080" b="1" i="0">
                <a:solidFill>
                  <a:srgbClr val="0B1F2A"/>
                </a:solidFill>
                <a:latin typeface="Arial"/>
              </a:rPr>
              <a:t>stats</a:t>
            </a:r>
          </a:p>
        </p:txBody>
      </p:sp>
      <p:sp>
        <p:nvSpPr>
          <p:cNvPr id="36" name="TextBox 35"/>
          <p:cNvSpPr txBox="1"/>
          <p:nvPr/>
        </p:nvSpPr>
        <p:spPr>
          <a:xfrm>
            <a:off x="2615184" y="3406139"/>
            <a:ext cx="3547872" cy="219456"/>
          </a:xfrm>
          <a:prstGeom prst="rect">
            <a:avLst/>
          </a:prstGeom>
          <a:noFill/>
        </p:spPr>
        <p:txBody>
          <a:bodyPr wrap="square" lIns="0" rIns="0" tIns="0" bIns="0" anchor="t">
            <a:spAutoFit/>
          </a:bodyPr>
          <a:lstStyle/>
          <a:p>
            <a:pPr algn="l"/>
            <a:r>
              <a:rPr sz="1080" b="0" i="0">
                <a:solidFill>
                  <a:srgbClr val="33475B"/>
                </a:solidFill>
                <a:latin typeface="Arial"/>
              </a:rPr>
              <a:t>namespaces and index size</a:t>
            </a:r>
          </a:p>
        </p:txBody>
      </p:sp>
      <p:sp>
        <p:nvSpPr>
          <p:cNvPr id="37" name="Rounded Rectangle 36"/>
          <p:cNvSpPr/>
          <p:nvPr/>
        </p:nvSpPr>
        <p:spPr>
          <a:xfrm>
            <a:off x="6492240" y="2267712"/>
            <a:ext cx="4983480" cy="1691640"/>
          </a:xfrm>
          <a:prstGeom prst="roundRect">
            <a:avLst>
              <a:gd name="adj" fmla="val 4594"/>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05041" y="2278684"/>
            <a:ext cx="4957876"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29983" y="2487168"/>
            <a:ext cx="4507992" cy="256032"/>
          </a:xfrm>
          <a:prstGeom prst="rect">
            <a:avLst/>
          </a:prstGeom>
          <a:noFill/>
        </p:spPr>
        <p:txBody>
          <a:bodyPr wrap="square" lIns="0" rIns="0" tIns="0" bIns="0" anchor="t">
            <a:spAutoFit/>
          </a:bodyPr>
          <a:lstStyle/>
          <a:p>
            <a:pPr algn="l"/>
            <a:r>
              <a:rPr sz="1100" b="1" i="0" spc="120">
                <a:solidFill>
                  <a:srgbClr val="B45309"/>
                </a:solidFill>
                <a:latin typeface="Arial"/>
              </a:rPr>
              <a:t>ERROR HANDLING</a:t>
            </a:r>
          </a:p>
        </p:txBody>
      </p:sp>
      <p:sp>
        <p:nvSpPr>
          <p:cNvPr id="40" name="TextBox 39"/>
          <p:cNvSpPr txBox="1"/>
          <p:nvPr/>
        </p:nvSpPr>
        <p:spPr>
          <a:xfrm>
            <a:off x="6729984" y="2779776"/>
            <a:ext cx="4507992" cy="1097280"/>
          </a:xfrm>
          <a:prstGeom prst="rect">
            <a:avLst/>
          </a:prstGeom>
          <a:noFill/>
        </p:spPr>
        <p:txBody>
          <a:bodyPr wrap="square" lIns="0" rIns="0" tIns="0" bIns="0" anchor="t">
            <a:spAutoFit/>
          </a:bodyPr>
          <a:lstStyle/>
          <a:p>
            <a:pPr algn="l">
              <a:lnSpc>
                <a:spcPct val="125000"/>
              </a:lnSpc>
            </a:pPr>
            <a:r>
              <a:rPr sz="1140" b="0" i="0">
                <a:solidFill>
                  <a:srgbClr val="33475B"/>
                </a:solidFill>
                <a:latin typeface="Arial"/>
              </a:rPr>
              <a:t>A missing index exits non-zero with one line naming the fix, not a traceback. The things a user can actually correct get a message; everything else is allowed to raise normally.</a:t>
            </a:r>
          </a:p>
        </p:txBody>
      </p:sp>
      <p:sp>
        <p:nvSpPr>
          <p:cNvPr id="41" name="Rounded Rectangle 40"/>
          <p:cNvSpPr/>
          <p:nvPr/>
        </p:nvSpPr>
        <p:spPr>
          <a:xfrm>
            <a:off x="731520" y="4005072"/>
            <a:ext cx="10744200" cy="1874519"/>
          </a:xfrm>
          <a:prstGeom prst="roundRect">
            <a:avLst>
              <a:gd name="adj" fmla="val 414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4321" y="4016044"/>
            <a:ext cx="10718596"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9264" y="4224528"/>
            <a:ext cx="10268712" cy="256032"/>
          </a:xfrm>
          <a:prstGeom prst="rect">
            <a:avLst/>
          </a:prstGeom>
          <a:noFill/>
        </p:spPr>
        <p:txBody>
          <a:bodyPr wrap="square" lIns="0" rIns="0" tIns="0" bIns="0" anchor="t">
            <a:spAutoFit/>
          </a:bodyPr>
          <a:lstStyle/>
          <a:p>
            <a:pPr algn="l"/>
            <a:r>
              <a:rPr sz="1100" b="1" i="0" spc="120">
                <a:solidFill>
                  <a:srgbClr val="15803D"/>
                </a:solidFill>
                <a:latin typeface="Arial"/>
              </a:rPr>
              <a:t>STREAMLIT PAGE</a:t>
            </a:r>
          </a:p>
        </p:txBody>
      </p:sp>
      <p:sp>
        <p:nvSpPr>
          <p:cNvPr id="44" name="TextBox 43"/>
          <p:cNvSpPr txBox="1"/>
          <p:nvPr/>
        </p:nvSpPr>
        <p:spPr>
          <a:xfrm>
            <a:off x="969264" y="4535424"/>
            <a:ext cx="4892040" cy="1188720"/>
          </a:xfrm>
          <a:prstGeom prst="rect">
            <a:avLst/>
          </a:prstGeom>
          <a:noFill/>
        </p:spPr>
        <p:txBody>
          <a:bodyPr wrap="square" lIns="0" rIns="0" tIns="0" bIns="0" anchor="t">
            <a:spAutoFit/>
          </a:bodyPr>
          <a:lstStyle/>
          <a:p>
            <a:pPr algn="l">
              <a:lnSpc>
                <a:spcPct val="128000"/>
              </a:lnSpc>
            </a:pPr>
            <a:r>
              <a:rPr sz="1160" b="0" i="0">
                <a:solidFill>
                  <a:srgbClr val="33475B"/>
                </a:solidFill>
                <a:latin typeface="Arial"/>
              </a:rPr>
              <a:t>Mode radio for semantic, keyword and hybrid; a top-k slider; a chunk-size selector; results as expandable blocks with title, note id, score and a snippet centred on the query term.</a:t>
            </a:r>
          </a:p>
        </p:txBody>
      </p:sp>
      <p:sp>
        <p:nvSpPr>
          <p:cNvPr id="45" name="Rectangle 44"/>
          <p:cNvSpPr/>
          <p:nvPr/>
        </p:nvSpPr>
        <p:spPr>
          <a:xfrm>
            <a:off x="6199632" y="4498848"/>
            <a:ext cx="7315" cy="109728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10528" y="4535424"/>
            <a:ext cx="4754880" cy="1188720"/>
          </a:xfrm>
          <a:prstGeom prst="rect">
            <a:avLst/>
          </a:prstGeom>
          <a:noFill/>
        </p:spPr>
        <p:txBody>
          <a:bodyPr wrap="square" lIns="0" rIns="0" tIns="0" bIns="0" anchor="t">
            <a:spAutoFit/>
          </a:bodyPr>
          <a:lstStyle/>
          <a:p>
            <a:pPr algn="l">
              <a:lnSpc>
                <a:spcPct val="128000"/>
              </a:lnSpc>
            </a:pPr>
            <a:r>
              <a:rPr sz="1160" b="0" i="0">
                <a:solidFill>
                  <a:srgbClr val="6B7F91"/>
                </a:solidFill>
                <a:latin typeface="Arial"/>
              </a:rPr>
              <a:t>This component has no metrics of its own, and the report says so. Its contribution is that switching mode in the sidebar is what makes the comparison visible to somebody who has not read the tables.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Vinay Krishna Kommalapati</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COMPONENT 5</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Evaluation methodology</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Thirty queries, judged at note level</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Relevance is binary and judged per note, the ranking is deduplicated to distinct notes before scoring, and the whole sweep reruns in about ten seconds.</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Vinay Krishna Kommalapati  •  6:40–7:40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Rounded Rectangle 24"/>
          <p:cNvSpPr/>
          <p:nvPr/>
        </p:nvSpPr>
        <p:spPr>
          <a:xfrm>
            <a:off x="731520" y="2249424"/>
            <a:ext cx="2487168"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4321" y="2260396"/>
            <a:ext cx="2461564"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2468880"/>
            <a:ext cx="2487168" cy="384048"/>
          </a:xfrm>
          <a:prstGeom prst="rect">
            <a:avLst/>
          </a:prstGeom>
          <a:noFill/>
        </p:spPr>
        <p:txBody>
          <a:bodyPr wrap="square" lIns="0" rIns="0" tIns="0" bIns="0" anchor="t">
            <a:spAutoFit/>
          </a:bodyPr>
          <a:lstStyle/>
          <a:p>
            <a:pPr algn="ctr"/>
            <a:r>
              <a:rPr sz="2500" b="1" i="0">
                <a:solidFill>
                  <a:srgbClr val="0F766E"/>
                </a:solidFill>
                <a:latin typeface="Arial"/>
              </a:rPr>
              <a:t>30</a:t>
            </a:r>
          </a:p>
        </p:txBody>
      </p:sp>
      <p:sp>
        <p:nvSpPr>
          <p:cNvPr id="28" name="TextBox 27"/>
          <p:cNvSpPr txBox="1"/>
          <p:nvPr/>
        </p:nvSpPr>
        <p:spPr>
          <a:xfrm>
            <a:off x="731520" y="2880360"/>
            <a:ext cx="2487168" cy="237744"/>
          </a:xfrm>
          <a:prstGeom prst="rect">
            <a:avLst/>
          </a:prstGeom>
          <a:noFill/>
        </p:spPr>
        <p:txBody>
          <a:bodyPr wrap="square" lIns="0" rIns="0" tIns="0" bIns="0" anchor="t">
            <a:spAutoFit/>
          </a:bodyPr>
          <a:lstStyle/>
          <a:p>
            <a:pPr algn="ctr"/>
            <a:r>
              <a:rPr sz="940" b="0" i="0">
                <a:solidFill>
                  <a:srgbClr val="6B7F91"/>
                </a:solidFill>
                <a:latin typeface="Arial"/>
              </a:rPr>
              <a:t>gold queries</a:t>
            </a:r>
          </a:p>
        </p:txBody>
      </p:sp>
      <p:sp>
        <p:nvSpPr>
          <p:cNvPr id="29" name="Rounded Rectangle 28"/>
          <p:cNvSpPr/>
          <p:nvPr/>
        </p:nvSpPr>
        <p:spPr>
          <a:xfrm>
            <a:off x="3401568" y="2249424"/>
            <a:ext cx="2487168"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414369" y="2260396"/>
            <a:ext cx="2461564"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01568" y="2468880"/>
            <a:ext cx="2487168" cy="384048"/>
          </a:xfrm>
          <a:prstGeom prst="rect">
            <a:avLst/>
          </a:prstGeom>
          <a:noFill/>
        </p:spPr>
        <p:txBody>
          <a:bodyPr wrap="square" lIns="0" rIns="0" tIns="0" bIns="0" anchor="t">
            <a:spAutoFit/>
          </a:bodyPr>
          <a:lstStyle/>
          <a:p>
            <a:pPr algn="ctr"/>
            <a:r>
              <a:rPr sz="1700" b="1" i="0">
                <a:solidFill>
                  <a:srgbClr val="B45309"/>
                </a:solidFill>
                <a:latin typeface="Arial"/>
              </a:rPr>
              <a:t>10 / 8 / 12</a:t>
            </a:r>
          </a:p>
        </p:txBody>
      </p:sp>
      <p:sp>
        <p:nvSpPr>
          <p:cNvPr id="32" name="TextBox 31"/>
          <p:cNvSpPr txBox="1"/>
          <p:nvPr/>
        </p:nvSpPr>
        <p:spPr>
          <a:xfrm>
            <a:off x="3401568" y="2880360"/>
            <a:ext cx="2487168" cy="237744"/>
          </a:xfrm>
          <a:prstGeom prst="rect">
            <a:avLst/>
          </a:prstGeom>
          <a:noFill/>
        </p:spPr>
        <p:txBody>
          <a:bodyPr wrap="square" lIns="0" rIns="0" tIns="0" bIns="0" anchor="t">
            <a:spAutoFit/>
          </a:bodyPr>
          <a:lstStyle/>
          <a:p>
            <a:pPr algn="ctr"/>
            <a:r>
              <a:rPr sz="940" b="0" i="0">
                <a:solidFill>
                  <a:srgbClr val="6B7F91"/>
                </a:solidFill>
                <a:latin typeface="Arial"/>
              </a:rPr>
              <a:t>paraphrase / exact / lookup</a:t>
            </a:r>
          </a:p>
        </p:txBody>
      </p:sp>
      <p:sp>
        <p:nvSpPr>
          <p:cNvPr id="33" name="Rounded Rectangle 32"/>
          <p:cNvSpPr/>
          <p:nvPr/>
        </p:nvSpPr>
        <p:spPr>
          <a:xfrm>
            <a:off x="6071616" y="2249424"/>
            <a:ext cx="2487168"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84417" y="2260396"/>
            <a:ext cx="2461564" cy="457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71616" y="2468880"/>
            <a:ext cx="2487168" cy="384048"/>
          </a:xfrm>
          <a:prstGeom prst="rect">
            <a:avLst/>
          </a:prstGeom>
          <a:noFill/>
        </p:spPr>
        <p:txBody>
          <a:bodyPr wrap="square" lIns="0" rIns="0" tIns="0" bIns="0" anchor="t">
            <a:spAutoFit/>
          </a:bodyPr>
          <a:lstStyle/>
          <a:p>
            <a:pPr algn="ctr"/>
            <a:r>
              <a:rPr sz="2500" b="1" i="0">
                <a:solidFill>
                  <a:srgbClr val="6D28D9"/>
                </a:solidFill>
                <a:latin typeface="Arial"/>
              </a:rPr>
              <a:t>4</a:t>
            </a:r>
          </a:p>
        </p:txBody>
      </p:sp>
      <p:sp>
        <p:nvSpPr>
          <p:cNvPr id="36" name="TextBox 35"/>
          <p:cNvSpPr txBox="1"/>
          <p:nvPr/>
        </p:nvSpPr>
        <p:spPr>
          <a:xfrm>
            <a:off x="6071616" y="2880360"/>
            <a:ext cx="2487168" cy="237744"/>
          </a:xfrm>
          <a:prstGeom prst="rect">
            <a:avLst/>
          </a:prstGeom>
          <a:noFill/>
        </p:spPr>
        <p:txBody>
          <a:bodyPr wrap="square" lIns="0" rIns="0" tIns="0" bIns="0" anchor="t">
            <a:spAutoFit/>
          </a:bodyPr>
          <a:lstStyle/>
          <a:p>
            <a:pPr algn="ctr"/>
            <a:r>
              <a:rPr sz="940" b="0" i="0">
                <a:solidFill>
                  <a:srgbClr val="6B7F91"/>
                </a:solidFill>
                <a:latin typeface="Arial"/>
              </a:rPr>
              <a:t>metrics at k = 5</a:t>
            </a:r>
          </a:p>
        </p:txBody>
      </p:sp>
      <p:sp>
        <p:nvSpPr>
          <p:cNvPr id="37" name="Rounded Rectangle 36"/>
          <p:cNvSpPr/>
          <p:nvPr/>
        </p:nvSpPr>
        <p:spPr>
          <a:xfrm>
            <a:off x="8741664" y="2249424"/>
            <a:ext cx="2734056"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754465" y="2260396"/>
            <a:ext cx="2708452"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41664" y="2468880"/>
            <a:ext cx="2734056" cy="384048"/>
          </a:xfrm>
          <a:prstGeom prst="rect">
            <a:avLst/>
          </a:prstGeom>
          <a:noFill/>
        </p:spPr>
        <p:txBody>
          <a:bodyPr wrap="square" lIns="0" rIns="0" tIns="0" bIns="0" anchor="t">
            <a:spAutoFit/>
          </a:bodyPr>
          <a:lstStyle/>
          <a:p>
            <a:pPr algn="ctr"/>
            <a:r>
              <a:rPr sz="2500" b="1" i="0">
                <a:solidFill>
                  <a:srgbClr val="15803D"/>
                </a:solidFill>
                <a:latin typeface="Arial"/>
              </a:rPr>
              <a:t>3</a:t>
            </a:r>
          </a:p>
        </p:txBody>
      </p:sp>
      <p:sp>
        <p:nvSpPr>
          <p:cNvPr id="40" name="TextBox 39"/>
          <p:cNvSpPr txBox="1"/>
          <p:nvPr/>
        </p:nvSpPr>
        <p:spPr>
          <a:xfrm>
            <a:off x="8741664" y="2880360"/>
            <a:ext cx="2734056" cy="237744"/>
          </a:xfrm>
          <a:prstGeom prst="rect">
            <a:avLst/>
          </a:prstGeom>
          <a:noFill/>
        </p:spPr>
        <p:txBody>
          <a:bodyPr wrap="square" lIns="0" rIns="0" tIns="0" bIns="0" anchor="t">
            <a:spAutoFit/>
          </a:bodyPr>
          <a:lstStyle/>
          <a:p>
            <a:pPr algn="ctr"/>
            <a:r>
              <a:rPr sz="940" b="0" i="0">
                <a:solidFill>
                  <a:srgbClr val="6B7F91"/>
                </a:solidFill>
                <a:latin typeface="Arial"/>
              </a:rPr>
              <a:t>chunk sizes swept</a:t>
            </a:r>
          </a:p>
        </p:txBody>
      </p:sp>
      <p:sp>
        <p:nvSpPr>
          <p:cNvPr id="41" name="Oval 40"/>
          <p:cNvSpPr/>
          <p:nvPr/>
        </p:nvSpPr>
        <p:spPr>
          <a:xfrm>
            <a:off x="731520" y="3643884"/>
            <a:ext cx="96012" cy="9601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3566160"/>
            <a:ext cx="5303520" cy="713232"/>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Precision@5, Recall@5, MRR and nDCG@5, with recall as the primary metric</a:t>
            </a:r>
          </a:p>
        </p:txBody>
      </p:sp>
      <p:sp>
        <p:nvSpPr>
          <p:cNvPr id="43" name="Oval 42"/>
          <p:cNvSpPr/>
          <p:nvPr/>
        </p:nvSpPr>
        <p:spPr>
          <a:xfrm>
            <a:off x="731520" y="4448556"/>
            <a:ext cx="96012" cy="9601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4370832"/>
            <a:ext cx="5303520" cy="713232"/>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The harness fetches 4k chunks and keeps the first k distinct notes, so precision is not depressed by several chunks of one note</a:t>
            </a:r>
          </a:p>
        </p:txBody>
      </p:sp>
      <p:sp>
        <p:nvSpPr>
          <p:cNvPr id="45" name="Oval 44"/>
          <p:cNvSpPr/>
          <p:nvPr/>
        </p:nvSpPr>
        <p:spPr>
          <a:xfrm>
            <a:off x="731520" y="5253228"/>
            <a:ext cx="96012" cy="96012"/>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5175504"/>
            <a:ext cx="5303520" cy="713232"/>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Latency is the fastest of three timed runs after warm-up</a:t>
            </a:r>
          </a:p>
        </p:txBody>
      </p:sp>
      <p:sp>
        <p:nvSpPr>
          <p:cNvPr id="47" name="Rounded Rectangle 46"/>
          <p:cNvSpPr/>
          <p:nvPr/>
        </p:nvSpPr>
        <p:spPr>
          <a:xfrm>
            <a:off x="6675120" y="3566160"/>
            <a:ext cx="4800600" cy="2194560"/>
          </a:xfrm>
          <a:prstGeom prst="roundRect">
            <a:avLst>
              <a:gd name="adj" fmla="val 3541"/>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687921" y="3577132"/>
            <a:ext cx="4774996" cy="45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12864" y="3785615"/>
            <a:ext cx="4325112" cy="256032"/>
          </a:xfrm>
          <a:prstGeom prst="rect">
            <a:avLst/>
          </a:prstGeom>
          <a:noFill/>
        </p:spPr>
        <p:txBody>
          <a:bodyPr wrap="square" lIns="0" rIns="0" tIns="0" bIns="0" anchor="t">
            <a:spAutoFit/>
          </a:bodyPr>
          <a:lstStyle/>
          <a:p>
            <a:pPr algn="l"/>
            <a:r>
              <a:rPr sz="1100" b="1" i="0" spc="120">
                <a:solidFill>
                  <a:srgbClr val="B91C1C"/>
                </a:solidFill>
                <a:latin typeface="Arial"/>
              </a:rPr>
              <a:t>THREAT TO VALIDITY</a:t>
            </a:r>
          </a:p>
        </p:txBody>
      </p:sp>
      <p:sp>
        <p:nvSpPr>
          <p:cNvPr id="50" name="TextBox 49"/>
          <p:cNvSpPr txBox="1"/>
          <p:nvPr/>
        </p:nvSpPr>
        <p:spPr>
          <a:xfrm>
            <a:off x="6912864" y="4059936"/>
            <a:ext cx="4325112" cy="1554480"/>
          </a:xfrm>
          <a:prstGeom prst="rect">
            <a:avLst/>
          </a:prstGeom>
          <a:noFill/>
        </p:spPr>
        <p:txBody>
          <a:bodyPr wrap="square" lIns="0" rIns="0" tIns="0" bIns="0" anchor="t">
            <a:spAutoFit/>
          </a:bodyPr>
          <a:lstStyle/>
          <a:p>
            <a:pPr algn="l">
              <a:lnSpc>
                <a:spcPct val="128000"/>
              </a:lnSpc>
            </a:pPr>
            <a:r>
              <a:rPr sz="1140" b="0" i="0">
                <a:solidFill>
                  <a:srgbClr val="33475B"/>
                </a:solidFill>
                <a:latin typeface="Arial"/>
              </a:rPr>
              <a:t>We wrote the corpus and we judged the gold set, one person per judgement. Thirty queries is a small sample and a couple of large per-query margins can carry an average on their own, which is why we report win counts alongside the means.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Vinay Krishna Kommalapati</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RESULTS</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Aggregate comparison</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On the aggregate, it is a tie</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Across 30 queries at chunk size 512, semantic wins 4, keyword wins 3, and 23 are ties. Neither method leads consistently on the means.</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Vinay Krishna Kommalapati  •  7:40–8:30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Rounded Rectangle 24"/>
          <p:cNvSpPr/>
          <p:nvPr/>
        </p:nvSpPr>
        <p:spPr>
          <a:xfrm>
            <a:off x="731520" y="2231136"/>
            <a:ext cx="6537960" cy="329184"/>
          </a:xfrm>
          <a:prstGeom prst="roundRect">
            <a:avLst>
              <a:gd name="adj" fmla="val 23611"/>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2308860"/>
            <a:ext cx="732434" cy="219456"/>
          </a:xfrm>
          <a:prstGeom prst="rect">
            <a:avLst/>
          </a:prstGeom>
          <a:noFill/>
        </p:spPr>
        <p:txBody>
          <a:bodyPr wrap="square" lIns="0" rIns="0" tIns="0" bIns="0" anchor="t">
            <a:spAutoFit/>
          </a:bodyPr>
          <a:lstStyle/>
          <a:p>
            <a:pPr algn="l"/>
            <a:r>
              <a:rPr sz="980" b="1" i="0" spc="80">
                <a:solidFill>
                  <a:srgbClr val="0F766E"/>
                </a:solidFill>
                <a:latin typeface="Arial"/>
              </a:rPr>
              <a:t>CHUNK</a:t>
            </a:r>
          </a:p>
        </p:txBody>
      </p:sp>
      <p:sp>
        <p:nvSpPr>
          <p:cNvPr id="27" name="TextBox 26"/>
          <p:cNvSpPr txBox="1"/>
          <p:nvPr/>
        </p:nvSpPr>
        <p:spPr>
          <a:xfrm>
            <a:off x="1774850" y="2308860"/>
            <a:ext cx="1386230" cy="219456"/>
          </a:xfrm>
          <a:prstGeom prst="rect">
            <a:avLst/>
          </a:prstGeom>
          <a:noFill/>
        </p:spPr>
        <p:txBody>
          <a:bodyPr wrap="square" lIns="0" rIns="0" tIns="0" bIns="0" anchor="t">
            <a:spAutoFit/>
          </a:bodyPr>
          <a:lstStyle/>
          <a:p>
            <a:pPr algn="l"/>
            <a:r>
              <a:rPr sz="980" b="1" i="0" spc="80">
                <a:solidFill>
                  <a:srgbClr val="0F766E"/>
                </a:solidFill>
                <a:latin typeface="Arial"/>
              </a:rPr>
              <a:t>METHOD</a:t>
            </a:r>
          </a:p>
        </p:txBody>
      </p:sp>
      <p:sp>
        <p:nvSpPr>
          <p:cNvPr id="28" name="TextBox 27"/>
          <p:cNvSpPr txBox="1"/>
          <p:nvPr/>
        </p:nvSpPr>
        <p:spPr>
          <a:xfrm>
            <a:off x="3343960" y="2308860"/>
            <a:ext cx="830503" cy="219456"/>
          </a:xfrm>
          <a:prstGeom prst="rect">
            <a:avLst/>
          </a:prstGeom>
          <a:noFill/>
        </p:spPr>
        <p:txBody>
          <a:bodyPr wrap="square" lIns="0" rIns="0" tIns="0" bIns="0" anchor="t">
            <a:spAutoFit/>
          </a:bodyPr>
          <a:lstStyle/>
          <a:p>
            <a:pPr algn="l"/>
            <a:r>
              <a:rPr sz="980" b="1" i="0" spc="80">
                <a:solidFill>
                  <a:srgbClr val="0F766E"/>
                </a:solidFill>
                <a:latin typeface="Arial"/>
              </a:rPr>
              <a:t>P@5</a:t>
            </a:r>
          </a:p>
        </p:txBody>
      </p:sp>
      <p:sp>
        <p:nvSpPr>
          <p:cNvPr id="29" name="TextBox 28"/>
          <p:cNvSpPr txBox="1"/>
          <p:nvPr/>
        </p:nvSpPr>
        <p:spPr>
          <a:xfrm>
            <a:off x="4357344" y="2308860"/>
            <a:ext cx="830503" cy="219456"/>
          </a:xfrm>
          <a:prstGeom prst="rect">
            <a:avLst/>
          </a:prstGeom>
          <a:noFill/>
        </p:spPr>
        <p:txBody>
          <a:bodyPr wrap="square" lIns="0" rIns="0" tIns="0" bIns="0" anchor="t">
            <a:spAutoFit/>
          </a:bodyPr>
          <a:lstStyle/>
          <a:p>
            <a:pPr algn="l"/>
            <a:r>
              <a:rPr sz="980" b="1" i="0" spc="80">
                <a:solidFill>
                  <a:srgbClr val="0F766E"/>
                </a:solidFill>
                <a:latin typeface="Arial"/>
              </a:rPr>
              <a:t>R@5</a:t>
            </a:r>
          </a:p>
        </p:txBody>
      </p:sp>
      <p:sp>
        <p:nvSpPr>
          <p:cNvPr id="30" name="TextBox 29"/>
          <p:cNvSpPr txBox="1"/>
          <p:nvPr/>
        </p:nvSpPr>
        <p:spPr>
          <a:xfrm>
            <a:off x="5370728" y="2308860"/>
            <a:ext cx="830503" cy="219456"/>
          </a:xfrm>
          <a:prstGeom prst="rect">
            <a:avLst/>
          </a:prstGeom>
          <a:noFill/>
        </p:spPr>
        <p:txBody>
          <a:bodyPr wrap="square" lIns="0" rIns="0" tIns="0" bIns="0" anchor="t">
            <a:spAutoFit/>
          </a:bodyPr>
          <a:lstStyle/>
          <a:p>
            <a:pPr algn="l"/>
            <a:r>
              <a:rPr sz="980" b="1" i="0" spc="80">
                <a:solidFill>
                  <a:srgbClr val="0F766E"/>
                </a:solidFill>
                <a:latin typeface="Arial"/>
              </a:rPr>
              <a:t>MRR</a:t>
            </a:r>
          </a:p>
        </p:txBody>
      </p:sp>
      <p:sp>
        <p:nvSpPr>
          <p:cNvPr id="31" name="TextBox 30"/>
          <p:cNvSpPr txBox="1"/>
          <p:nvPr/>
        </p:nvSpPr>
        <p:spPr>
          <a:xfrm>
            <a:off x="6384112" y="2308860"/>
            <a:ext cx="830503" cy="219456"/>
          </a:xfrm>
          <a:prstGeom prst="rect">
            <a:avLst/>
          </a:prstGeom>
          <a:noFill/>
        </p:spPr>
        <p:txBody>
          <a:bodyPr wrap="square" lIns="0" rIns="0" tIns="0" bIns="0" anchor="t">
            <a:spAutoFit/>
          </a:bodyPr>
          <a:lstStyle/>
          <a:p>
            <a:pPr algn="l"/>
            <a:r>
              <a:rPr sz="980" b="1" i="0" spc="80">
                <a:solidFill>
                  <a:srgbClr val="0F766E"/>
                </a:solidFill>
                <a:latin typeface="Arial"/>
              </a:rPr>
              <a:t>NDCG@5</a:t>
            </a:r>
          </a:p>
        </p:txBody>
      </p:sp>
      <p:sp>
        <p:nvSpPr>
          <p:cNvPr id="32" name="Rectangle 31"/>
          <p:cNvSpPr/>
          <p:nvPr/>
        </p:nvSpPr>
        <p:spPr>
          <a:xfrm>
            <a:off x="731520" y="2889503"/>
            <a:ext cx="653796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2674620"/>
            <a:ext cx="732434" cy="219456"/>
          </a:xfrm>
          <a:prstGeom prst="rect">
            <a:avLst/>
          </a:prstGeom>
          <a:noFill/>
        </p:spPr>
        <p:txBody>
          <a:bodyPr wrap="square" lIns="0" rIns="0" tIns="0" bIns="0" anchor="t">
            <a:spAutoFit/>
          </a:bodyPr>
          <a:lstStyle/>
          <a:p>
            <a:pPr algn="l"/>
            <a:r>
              <a:rPr sz="1080" b="1" i="0">
                <a:solidFill>
                  <a:srgbClr val="0B1F2A"/>
                </a:solidFill>
                <a:latin typeface="Arial"/>
              </a:rPr>
              <a:t>128</a:t>
            </a:r>
          </a:p>
        </p:txBody>
      </p:sp>
      <p:sp>
        <p:nvSpPr>
          <p:cNvPr id="34" name="TextBox 33"/>
          <p:cNvSpPr txBox="1"/>
          <p:nvPr/>
        </p:nvSpPr>
        <p:spPr>
          <a:xfrm>
            <a:off x="1774850" y="2674620"/>
            <a:ext cx="1386230" cy="219456"/>
          </a:xfrm>
          <a:prstGeom prst="rect">
            <a:avLst/>
          </a:prstGeom>
          <a:noFill/>
        </p:spPr>
        <p:txBody>
          <a:bodyPr wrap="square" lIns="0" rIns="0" tIns="0" bIns="0" anchor="t">
            <a:spAutoFit/>
          </a:bodyPr>
          <a:lstStyle/>
          <a:p>
            <a:pPr algn="l"/>
            <a:r>
              <a:rPr sz="1080" b="0" i="0">
                <a:solidFill>
                  <a:srgbClr val="33475B"/>
                </a:solidFill>
                <a:latin typeface="Arial"/>
              </a:rPr>
              <a:t>Semantic</a:t>
            </a:r>
          </a:p>
        </p:txBody>
      </p:sp>
      <p:sp>
        <p:nvSpPr>
          <p:cNvPr id="35" name="TextBox 34"/>
          <p:cNvSpPr txBox="1"/>
          <p:nvPr/>
        </p:nvSpPr>
        <p:spPr>
          <a:xfrm>
            <a:off x="3343960" y="2674620"/>
            <a:ext cx="830503" cy="219456"/>
          </a:xfrm>
          <a:prstGeom prst="rect">
            <a:avLst/>
          </a:prstGeom>
          <a:noFill/>
        </p:spPr>
        <p:txBody>
          <a:bodyPr wrap="square" lIns="0" rIns="0" tIns="0" bIns="0" anchor="t">
            <a:spAutoFit/>
          </a:bodyPr>
          <a:lstStyle/>
          <a:p>
            <a:pPr algn="l"/>
            <a:r>
              <a:rPr sz="1080" b="0" i="0">
                <a:solidFill>
                  <a:srgbClr val="33475B"/>
                </a:solidFill>
                <a:latin typeface="Arial"/>
              </a:rPr>
              <a:t>0.253</a:t>
            </a:r>
          </a:p>
        </p:txBody>
      </p:sp>
      <p:sp>
        <p:nvSpPr>
          <p:cNvPr id="36" name="TextBox 35"/>
          <p:cNvSpPr txBox="1"/>
          <p:nvPr/>
        </p:nvSpPr>
        <p:spPr>
          <a:xfrm>
            <a:off x="4357344" y="2674620"/>
            <a:ext cx="830503" cy="219456"/>
          </a:xfrm>
          <a:prstGeom prst="rect">
            <a:avLst/>
          </a:prstGeom>
          <a:noFill/>
        </p:spPr>
        <p:txBody>
          <a:bodyPr wrap="square" lIns="0" rIns="0" tIns="0" bIns="0" anchor="t">
            <a:spAutoFit/>
          </a:bodyPr>
          <a:lstStyle/>
          <a:p>
            <a:pPr algn="l"/>
            <a:r>
              <a:rPr sz="1080" b="0" i="0">
                <a:solidFill>
                  <a:srgbClr val="33475B"/>
                </a:solidFill>
                <a:latin typeface="Arial"/>
              </a:rPr>
              <a:t>0.906</a:t>
            </a:r>
          </a:p>
        </p:txBody>
      </p:sp>
      <p:sp>
        <p:nvSpPr>
          <p:cNvPr id="37" name="TextBox 36"/>
          <p:cNvSpPr txBox="1"/>
          <p:nvPr/>
        </p:nvSpPr>
        <p:spPr>
          <a:xfrm>
            <a:off x="5370728" y="2674620"/>
            <a:ext cx="830503" cy="219456"/>
          </a:xfrm>
          <a:prstGeom prst="rect">
            <a:avLst/>
          </a:prstGeom>
          <a:noFill/>
        </p:spPr>
        <p:txBody>
          <a:bodyPr wrap="square" lIns="0" rIns="0" tIns="0" bIns="0" anchor="t">
            <a:spAutoFit/>
          </a:bodyPr>
          <a:lstStyle/>
          <a:p>
            <a:pPr algn="l"/>
            <a:r>
              <a:rPr sz="1080" b="0" i="0">
                <a:solidFill>
                  <a:srgbClr val="33475B"/>
                </a:solidFill>
                <a:latin typeface="Arial"/>
              </a:rPr>
              <a:t>0.867</a:t>
            </a:r>
          </a:p>
        </p:txBody>
      </p:sp>
      <p:sp>
        <p:nvSpPr>
          <p:cNvPr id="38" name="TextBox 37"/>
          <p:cNvSpPr txBox="1"/>
          <p:nvPr/>
        </p:nvSpPr>
        <p:spPr>
          <a:xfrm>
            <a:off x="6384112" y="2674620"/>
            <a:ext cx="830503" cy="219456"/>
          </a:xfrm>
          <a:prstGeom prst="rect">
            <a:avLst/>
          </a:prstGeom>
          <a:noFill/>
        </p:spPr>
        <p:txBody>
          <a:bodyPr wrap="square" lIns="0" rIns="0" tIns="0" bIns="0" anchor="t">
            <a:spAutoFit/>
          </a:bodyPr>
          <a:lstStyle/>
          <a:p>
            <a:pPr algn="l"/>
            <a:r>
              <a:rPr sz="1080" b="0" i="0">
                <a:solidFill>
                  <a:srgbClr val="33475B"/>
                </a:solidFill>
                <a:latin typeface="Arial"/>
              </a:rPr>
              <a:t>0.843</a:t>
            </a:r>
          </a:p>
        </p:txBody>
      </p:sp>
      <p:sp>
        <p:nvSpPr>
          <p:cNvPr id="39" name="Rectangle 38"/>
          <p:cNvSpPr/>
          <p:nvPr/>
        </p:nvSpPr>
        <p:spPr>
          <a:xfrm>
            <a:off x="731520" y="3209544"/>
            <a:ext cx="653796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9536" y="2994660"/>
            <a:ext cx="732434" cy="219456"/>
          </a:xfrm>
          <a:prstGeom prst="rect">
            <a:avLst/>
          </a:prstGeom>
          <a:noFill/>
        </p:spPr>
        <p:txBody>
          <a:bodyPr wrap="square" lIns="0" rIns="0" tIns="0" bIns="0" anchor="t">
            <a:spAutoFit/>
          </a:bodyPr>
          <a:lstStyle/>
          <a:p>
            <a:pPr algn="l"/>
            <a:r>
              <a:rPr sz="1080" b="1" i="0">
                <a:solidFill>
                  <a:srgbClr val="0B1F2A"/>
                </a:solidFill>
                <a:latin typeface="Arial"/>
              </a:rPr>
              <a:t>128</a:t>
            </a:r>
          </a:p>
        </p:txBody>
      </p:sp>
      <p:sp>
        <p:nvSpPr>
          <p:cNvPr id="41" name="TextBox 40"/>
          <p:cNvSpPr txBox="1"/>
          <p:nvPr/>
        </p:nvSpPr>
        <p:spPr>
          <a:xfrm>
            <a:off x="1774850" y="2994660"/>
            <a:ext cx="1386230" cy="219456"/>
          </a:xfrm>
          <a:prstGeom prst="rect">
            <a:avLst/>
          </a:prstGeom>
          <a:noFill/>
        </p:spPr>
        <p:txBody>
          <a:bodyPr wrap="square" lIns="0" rIns="0" tIns="0" bIns="0" anchor="t">
            <a:spAutoFit/>
          </a:bodyPr>
          <a:lstStyle/>
          <a:p>
            <a:pPr algn="l"/>
            <a:r>
              <a:rPr sz="1080" b="0" i="0">
                <a:solidFill>
                  <a:srgbClr val="33475B"/>
                </a:solidFill>
                <a:latin typeface="Arial"/>
              </a:rPr>
              <a:t>Keyword</a:t>
            </a:r>
          </a:p>
        </p:txBody>
      </p:sp>
      <p:sp>
        <p:nvSpPr>
          <p:cNvPr id="42" name="TextBox 41"/>
          <p:cNvSpPr txBox="1"/>
          <p:nvPr/>
        </p:nvSpPr>
        <p:spPr>
          <a:xfrm>
            <a:off x="3343960" y="2994660"/>
            <a:ext cx="830503" cy="219456"/>
          </a:xfrm>
          <a:prstGeom prst="rect">
            <a:avLst/>
          </a:prstGeom>
          <a:noFill/>
        </p:spPr>
        <p:txBody>
          <a:bodyPr wrap="square" lIns="0" rIns="0" tIns="0" bIns="0" anchor="t">
            <a:spAutoFit/>
          </a:bodyPr>
          <a:lstStyle/>
          <a:p>
            <a:pPr algn="l"/>
            <a:r>
              <a:rPr sz="1080" b="0" i="0">
                <a:solidFill>
                  <a:srgbClr val="33475B"/>
                </a:solidFill>
                <a:latin typeface="Arial"/>
              </a:rPr>
              <a:t>0.233</a:t>
            </a:r>
          </a:p>
        </p:txBody>
      </p:sp>
      <p:sp>
        <p:nvSpPr>
          <p:cNvPr id="43" name="TextBox 42"/>
          <p:cNvSpPr txBox="1"/>
          <p:nvPr/>
        </p:nvSpPr>
        <p:spPr>
          <a:xfrm>
            <a:off x="4357344" y="2994660"/>
            <a:ext cx="830503" cy="219456"/>
          </a:xfrm>
          <a:prstGeom prst="rect">
            <a:avLst/>
          </a:prstGeom>
          <a:noFill/>
        </p:spPr>
        <p:txBody>
          <a:bodyPr wrap="square" lIns="0" rIns="0" tIns="0" bIns="0" anchor="t">
            <a:spAutoFit/>
          </a:bodyPr>
          <a:lstStyle/>
          <a:p>
            <a:pPr algn="l"/>
            <a:r>
              <a:rPr sz="1080" b="0" i="0">
                <a:solidFill>
                  <a:srgbClr val="33475B"/>
                </a:solidFill>
                <a:latin typeface="Arial"/>
              </a:rPr>
              <a:t>0.856</a:t>
            </a:r>
          </a:p>
        </p:txBody>
      </p:sp>
      <p:sp>
        <p:nvSpPr>
          <p:cNvPr id="44" name="TextBox 43"/>
          <p:cNvSpPr txBox="1"/>
          <p:nvPr/>
        </p:nvSpPr>
        <p:spPr>
          <a:xfrm>
            <a:off x="5370728" y="2994660"/>
            <a:ext cx="830503" cy="219456"/>
          </a:xfrm>
          <a:prstGeom prst="rect">
            <a:avLst/>
          </a:prstGeom>
          <a:noFill/>
        </p:spPr>
        <p:txBody>
          <a:bodyPr wrap="square" lIns="0" rIns="0" tIns="0" bIns="0" anchor="t">
            <a:spAutoFit/>
          </a:bodyPr>
          <a:lstStyle/>
          <a:p>
            <a:pPr algn="l"/>
            <a:r>
              <a:rPr sz="1080" b="0" i="0">
                <a:solidFill>
                  <a:srgbClr val="33475B"/>
                </a:solidFill>
                <a:latin typeface="Arial"/>
              </a:rPr>
              <a:t>0.868</a:t>
            </a:r>
          </a:p>
        </p:txBody>
      </p:sp>
      <p:sp>
        <p:nvSpPr>
          <p:cNvPr id="45" name="TextBox 44"/>
          <p:cNvSpPr txBox="1"/>
          <p:nvPr/>
        </p:nvSpPr>
        <p:spPr>
          <a:xfrm>
            <a:off x="6384112" y="2994660"/>
            <a:ext cx="830503" cy="219456"/>
          </a:xfrm>
          <a:prstGeom prst="rect">
            <a:avLst/>
          </a:prstGeom>
          <a:noFill/>
        </p:spPr>
        <p:txBody>
          <a:bodyPr wrap="square" lIns="0" rIns="0" tIns="0" bIns="0" anchor="t">
            <a:spAutoFit/>
          </a:bodyPr>
          <a:lstStyle/>
          <a:p>
            <a:pPr algn="l"/>
            <a:r>
              <a:rPr sz="1080" b="0" i="0">
                <a:solidFill>
                  <a:srgbClr val="33475B"/>
                </a:solidFill>
                <a:latin typeface="Arial"/>
              </a:rPr>
              <a:t>0.828</a:t>
            </a:r>
          </a:p>
        </p:txBody>
      </p:sp>
      <p:sp>
        <p:nvSpPr>
          <p:cNvPr id="46" name="Rectangle 45"/>
          <p:cNvSpPr/>
          <p:nvPr/>
        </p:nvSpPr>
        <p:spPr>
          <a:xfrm>
            <a:off x="731520" y="3529584"/>
            <a:ext cx="653796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9536" y="3314700"/>
            <a:ext cx="732434" cy="219456"/>
          </a:xfrm>
          <a:prstGeom prst="rect">
            <a:avLst/>
          </a:prstGeom>
          <a:noFill/>
        </p:spPr>
        <p:txBody>
          <a:bodyPr wrap="square" lIns="0" rIns="0" tIns="0" bIns="0" anchor="t">
            <a:spAutoFit/>
          </a:bodyPr>
          <a:lstStyle/>
          <a:p>
            <a:pPr algn="l"/>
            <a:r>
              <a:rPr sz="1080" b="1" i="0">
                <a:solidFill>
                  <a:srgbClr val="0B1F2A"/>
                </a:solidFill>
                <a:latin typeface="Arial"/>
              </a:rPr>
              <a:t>256</a:t>
            </a:r>
          </a:p>
        </p:txBody>
      </p:sp>
      <p:sp>
        <p:nvSpPr>
          <p:cNvPr id="48" name="TextBox 47"/>
          <p:cNvSpPr txBox="1"/>
          <p:nvPr/>
        </p:nvSpPr>
        <p:spPr>
          <a:xfrm>
            <a:off x="1774850" y="3314700"/>
            <a:ext cx="1386230" cy="219456"/>
          </a:xfrm>
          <a:prstGeom prst="rect">
            <a:avLst/>
          </a:prstGeom>
          <a:noFill/>
        </p:spPr>
        <p:txBody>
          <a:bodyPr wrap="square" lIns="0" rIns="0" tIns="0" bIns="0" anchor="t">
            <a:spAutoFit/>
          </a:bodyPr>
          <a:lstStyle/>
          <a:p>
            <a:pPr algn="l"/>
            <a:r>
              <a:rPr sz="1080" b="0" i="0">
                <a:solidFill>
                  <a:srgbClr val="33475B"/>
                </a:solidFill>
                <a:latin typeface="Arial"/>
              </a:rPr>
              <a:t>Semantic</a:t>
            </a:r>
          </a:p>
        </p:txBody>
      </p:sp>
      <p:sp>
        <p:nvSpPr>
          <p:cNvPr id="49" name="TextBox 48"/>
          <p:cNvSpPr txBox="1"/>
          <p:nvPr/>
        </p:nvSpPr>
        <p:spPr>
          <a:xfrm>
            <a:off x="3343960" y="3314700"/>
            <a:ext cx="830503" cy="219456"/>
          </a:xfrm>
          <a:prstGeom prst="rect">
            <a:avLst/>
          </a:prstGeom>
          <a:noFill/>
        </p:spPr>
        <p:txBody>
          <a:bodyPr wrap="square" lIns="0" rIns="0" tIns="0" bIns="0" anchor="t">
            <a:spAutoFit/>
          </a:bodyPr>
          <a:lstStyle/>
          <a:p>
            <a:pPr algn="l"/>
            <a:r>
              <a:rPr sz="1080" b="0" i="0">
                <a:solidFill>
                  <a:srgbClr val="33475B"/>
                </a:solidFill>
                <a:latin typeface="Arial"/>
              </a:rPr>
              <a:t>0.247</a:t>
            </a:r>
          </a:p>
        </p:txBody>
      </p:sp>
      <p:sp>
        <p:nvSpPr>
          <p:cNvPr id="50" name="TextBox 49"/>
          <p:cNvSpPr txBox="1"/>
          <p:nvPr/>
        </p:nvSpPr>
        <p:spPr>
          <a:xfrm>
            <a:off x="4357344" y="3314700"/>
            <a:ext cx="830503" cy="219456"/>
          </a:xfrm>
          <a:prstGeom prst="rect">
            <a:avLst/>
          </a:prstGeom>
          <a:noFill/>
        </p:spPr>
        <p:txBody>
          <a:bodyPr wrap="square" lIns="0" rIns="0" tIns="0" bIns="0" anchor="t">
            <a:spAutoFit/>
          </a:bodyPr>
          <a:lstStyle/>
          <a:p>
            <a:pPr algn="l"/>
            <a:r>
              <a:rPr sz="1080" b="0" i="0">
                <a:solidFill>
                  <a:srgbClr val="33475B"/>
                </a:solidFill>
                <a:latin typeface="Arial"/>
              </a:rPr>
              <a:t>0.894</a:t>
            </a:r>
          </a:p>
        </p:txBody>
      </p:sp>
      <p:sp>
        <p:nvSpPr>
          <p:cNvPr id="51" name="TextBox 50"/>
          <p:cNvSpPr txBox="1"/>
          <p:nvPr/>
        </p:nvSpPr>
        <p:spPr>
          <a:xfrm>
            <a:off x="5370728" y="3314700"/>
            <a:ext cx="830503" cy="219456"/>
          </a:xfrm>
          <a:prstGeom prst="rect">
            <a:avLst/>
          </a:prstGeom>
          <a:noFill/>
        </p:spPr>
        <p:txBody>
          <a:bodyPr wrap="square" lIns="0" rIns="0" tIns="0" bIns="0" anchor="t">
            <a:spAutoFit/>
          </a:bodyPr>
          <a:lstStyle/>
          <a:p>
            <a:pPr algn="l"/>
            <a:r>
              <a:rPr sz="1080" b="0" i="0">
                <a:solidFill>
                  <a:srgbClr val="33475B"/>
                </a:solidFill>
                <a:latin typeface="Arial"/>
              </a:rPr>
              <a:t>0.889</a:t>
            </a:r>
          </a:p>
        </p:txBody>
      </p:sp>
      <p:sp>
        <p:nvSpPr>
          <p:cNvPr id="52" name="TextBox 51"/>
          <p:cNvSpPr txBox="1"/>
          <p:nvPr/>
        </p:nvSpPr>
        <p:spPr>
          <a:xfrm>
            <a:off x="6384112" y="3314700"/>
            <a:ext cx="830503" cy="219456"/>
          </a:xfrm>
          <a:prstGeom prst="rect">
            <a:avLst/>
          </a:prstGeom>
          <a:noFill/>
        </p:spPr>
        <p:txBody>
          <a:bodyPr wrap="square" lIns="0" rIns="0" tIns="0" bIns="0" anchor="t">
            <a:spAutoFit/>
          </a:bodyPr>
          <a:lstStyle/>
          <a:p>
            <a:pPr algn="l"/>
            <a:r>
              <a:rPr sz="1080" b="0" i="0">
                <a:solidFill>
                  <a:srgbClr val="33475B"/>
                </a:solidFill>
                <a:latin typeface="Arial"/>
              </a:rPr>
              <a:t>0.856</a:t>
            </a:r>
          </a:p>
        </p:txBody>
      </p:sp>
      <p:sp>
        <p:nvSpPr>
          <p:cNvPr id="53" name="Rectangle 52"/>
          <p:cNvSpPr/>
          <p:nvPr/>
        </p:nvSpPr>
        <p:spPr>
          <a:xfrm>
            <a:off x="731520" y="3849623"/>
            <a:ext cx="653796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9536" y="3634739"/>
            <a:ext cx="732434" cy="219456"/>
          </a:xfrm>
          <a:prstGeom prst="rect">
            <a:avLst/>
          </a:prstGeom>
          <a:noFill/>
        </p:spPr>
        <p:txBody>
          <a:bodyPr wrap="square" lIns="0" rIns="0" tIns="0" bIns="0" anchor="t">
            <a:spAutoFit/>
          </a:bodyPr>
          <a:lstStyle/>
          <a:p>
            <a:pPr algn="l"/>
            <a:r>
              <a:rPr sz="1080" b="1" i="0">
                <a:solidFill>
                  <a:srgbClr val="0B1F2A"/>
                </a:solidFill>
                <a:latin typeface="Arial"/>
              </a:rPr>
              <a:t>256</a:t>
            </a:r>
          </a:p>
        </p:txBody>
      </p:sp>
      <p:sp>
        <p:nvSpPr>
          <p:cNvPr id="55" name="TextBox 54"/>
          <p:cNvSpPr txBox="1"/>
          <p:nvPr/>
        </p:nvSpPr>
        <p:spPr>
          <a:xfrm>
            <a:off x="1774850" y="3634739"/>
            <a:ext cx="1386230" cy="219456"/>
          </a:xfrm>
          <a:prstGeom prst="rect">
            <a:avLst/>
          </a:prstGeom>
          <a:noFill/>
        </p:spPr>
        <p:txBody>
          <a:bodyPr wrap="square" lIns="0" rIns="0" tIns="0" bIns="0" anchor="t">
            <a:spAutoFit/>
          </a:bodyPr>
          <a:lstStyle/>
          <a:p>
            <a:pPr algn="l"/>
            <a:r>
              <a:rPr sz="1080" b="0" i="0">
                <a:solidFill>
                  <a:srgbClr val="33475B"/>
                </a:solidFill>
                <a:latin typeface="Arial"/>
              </a:rPr>
              <a:t>Keyword</a:t>
            </a:r>
          </a:p>
        </p:txBody>
      </p:sp>
      <p:sp>
        <p:nvSpPr>
          <p:cNvPr id="56" name="TextBox 55"/>
          <p:cNvSpPr txBox="1"/>
          <p:nvPr/>
        </p:nvSpPr>
        <p:spPr>
          <a:xfrm>
            <a:off x="3343960" y="3634739"/>
            <a:ext cx="830503" cy="219456"/>
          </a:xfrm>
          <a:prstGeom prst="rect">
            <a:avLst/>
          </a:prstGeom>
          <a:noFill/>
        </p:spPr>
        <p:txBody>
          <a:bodyPr wrap="square" lIns="0" rIns="0" tIns="0" bIns="0" anchor="t">
            <a:spAutoFit/>
          </a:bodyPr>
          <a:lstStyle/>
          <a:p>
            <a:pPr algn="l"/>
            <a:r>
              <a:rPr sz="1080" b="0" i="0">
                <a:solidFill>
                  <a:srgbClr val="33475B"/>
                </a:solidFill>
                <a:latin typeface="Arial"/>
              </a:rPr>
              <a:t>0.267</a:t>
            </a:r>
          </a:p>
        </p:txBody>
      </p:sp>
      <p:sp>
        <p:nvSpPr>
          <p:cNvPr id="57" name="TextBox 56"/>
          <p:cNvSpPr txBox="1"/>
          <p:nvPr/>
        </p:nvSpPr>
        <p:spPr>
          <a:xfrm>
            <a:off x="4357344" y="3634739"/>
            <a:ext cx="830503" cy="219456"/>
          </a:xfrm>
          <a:prstGeom prst="rect">
            <a:avLst/>
          </a:prstGeom>
          <a:noFill/>
        </p:spPr>
        <p:txBody>
          <a:bodyPr wrap="square" lIns="0" rIns="0" tIns="0" bIns="0" anchor="t">
            <a:spAutoFit/>
          </a:bodyPr>
          <a:lstStyle/>
          <a:p>
            <a:pPr algn="l"/>
            <a:r>
              <a:rPr sz="1080" b="0" i="0">
                <a:solidFill>
                  <a:srgbClr val="33475B"/>
                </a:solidFill>
                <a:latin typeface="Arial"/>
              </a:rPr>
              <a:t>0.933</a:t>
            </a:r>
          </a:p>
        </p:txBody>
      </p:sp>
      <p:sp>
        <p:nvSpPr>
          <p:cNvPr id="58" name="TextBox 57"/>
          <p:cNvSpPr txBox="1"/>
          <p:nvPr/>
        </p:nvSpPr>
        <p:spPr>
          <a:xfrm>
            <a:off x="5370728" y="3634739"/>
            <a:ext cx="830503" cy="219456"/>
          </a:xfrm>
          <a:prstGeom prst="rect">
            <a:avLst/>
          </a:prstGeom>
          <a:noFill/>
        </p:spPr>
        <p:txBody>
          <a:bodyPr wrap="square" lIns="0" rIns="0" tIns="0" bIns="0" anchor="t">
            <a:spAutoFit/>
          </a:bodyPr>
          <a:lstStyle/>
          <a:p>
            <a:pPr algn="l"/>
            <a:r>
              <a:rPr sz="1080" b="0" i="0">
                <a:solidFill>
                  <a:srgbClr val="33475B"/>
                </a:solidFill>
                <a:latin typeface="Arial"/>
              </a:rPr>
              <a:t>0.882</a:t>
            </a:r>
          </a:p>
        </p:txBody>
      </p:sp>
      <p:sp>
        <p:nvSpPr>
          <p:cNvPr id="59" name="TextBox 58"/>
          <p:cNvSpPr txBox="1"/>
          <p:nvPr/>
        </p:nvSpPr>
        <p:spPr>
          <a:xfrm>
            <a:off x="6384112" y="3634739"/>
            <a:ext cx="830503" cy="219456"/>
          </a:xfrm>
          <a:prstGeom prst="rect">
            <a:avLst/>
          </a:prstGeom>
          <a:noFill/>
        </p:spPr>
        <p:txBody>
          <a:bodyPr wrap="square" lIns="0" rIns="0" tIns="0" bIns="0" anchor="t">
            <a:spAutoFit/>
          </a:bodyPr>
          <a:lstStyle/>
          <a:p>
            <a:pPr algn="l"/>
            <a:r>
              <a:rPr sz="1080" b="0" i="0">
                <a:solidFill>
                  <a:srgbClr val="33475B"/>
                </a:solidFill>
                <a:latin typeface="Arial"/>
              </a:rPr>
              <a:t>0.866</a:t>
            </a:r>
          </a:p>
        </p:txBody>
      </p:sp>
      <p:sp>
        <p:nvSpPr>
          <p:cNvPr id="60" name="Rectangle 59"/>
          <p:cNvSpPr/>
          <p:nvPr/>
        </p:nvSpPr>
        <p:spPr>
          <a:xfrm>
            <a:off x="731520" y="4169663"/>
            <a:ext cx="653796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9536" y="3954780"/>
            <a:ext cx="732434" cy="219456"/>
          </a:xfrm>
          <a:prstGeom prst="rect">
            <a:avLst/>
          </a:prstGeom>
          <a:noFill/>
        </p:spPr>
        <p:txBody>
          <a:bodyPr wrap="square" lIns="0" rIns="0" tIns="0" bIns="0" anchor="t">
            <a:spAutoFit/>
          </a:bodyPr>
          <a:lstStyle/>
          <a:p>
            <a:pPr algn="l"/>
            <a:r>
              <a:rPr sz="1080" b="1" i="0">
                <a:solidFill>
                  <a:srgbClr val="0B1F2A"/>
                </a:solidFill>
                <a:latin typeface="Arial"/>
              </a:rPr>
              <a:t>512</a:t>
            </a:r>
          </a:p>
        </p:txBody>
      </p:sp>
      <p:sp>
        <p:nvSpPr>
          <p:cNvPr id="62" name="TextBox 61"/>
          <p:cNvSpPr txBox="1"/>
          <p:nvPr/>
        </p:nvSpPr>
        <p:spPr>
          <a:xfrm>
            <a:off x="1774850" y="3954780"/>
            <a:ext cx="1386230" cy="219456"/>
          </a:xfrm>
          <a:prstGeom prst="rect">
            <a:avLst/>
          </a:prstGeom>
          <a:noFill/>
        </p:spPr>
        <p:txBody>
          <a:bodyPr wrap="square" lIns="0" rIns="0" tIns="0" bIns="0" anchor="t">
            <a:spAutoFit/>
          </a:bodyPr>
          <a:lstStyle/>
          <a:p>
            <a:pPr algn="l"/>
            <a:r>
              <a:rPr sz="1080" b="0" i="0">
                <a:solidFill>
                  <a:srgbClr val="33475B"/>
                </a:solidFill>
                <a:latin typeface="Arial"/>
              </a:rPr>
              <a:t>Semantic</a:t>
            </a:r>
          </a:p>
        </p:txBody>
      </p:sp>
      <p:sp>
        <p:nvSpPr>
          <p:cNvPr id="63" name="TextBox 62"/>
          <p:cNvSpPr txBox="1"/>
          <p:nvPr/>
        </p:nvSpPr>
        <p:spPr>
          <a:xfrm>
            <a:off x="3343960" y="3954780"/>
            <a:ext cx="830503" cy="219456"/>
          </a:xfrm>
          <a:prstGeom prst="rect">
            <a:avLst/>
          </a:prstGeom>
          <a:noFill/>
        </p:spPr>
        <p:txBody>
          <a:bodyPr wrap="square" lIns="0" rIns="0" tIns="0" bIns="0" anchor="t">
            <a:spAutoFit/>
          </a:bodyPr>
          <a:lstStyle/>
          <a:p>
            <a:pPr algn="l"/>
            <a:r>
              <a:rPr sz="1080" b="0" i="0">
                <a:solidFill>
                  <a:srgbClr val="33475B"/>
                </a:solidFill>
                <a:latin typeface="Arial"/>
              </a:rPr>
              <a:t>0.253</a:t>
            </a:r>
          </a:p>
        </p:txBody>
      </p:sp>
      <p:sp>
        <p:nvSpPr>
          <p:cNvPr id="64" name="TextBox 63"/>
          <p:cNvSpPr txBox="1"/>
          <p:nvPr/>
        </p:nvSpPr>
        <p:spPr>
          <a:xfrm>
            <a:off x="4357344" y="3954780"/>
            <a:ext cx="830503" cy="219456"/>
          </a:xfrm>
          <a:prstGeom prst="rect">
            <a:avLst/>
          </a:prstGeom>
          <a:noFill/>
        </p:spPr>
        <p:txBody>
          <a:bodyPr wrap="square" lIns="0" rIns="0" tIns="0" bIns="0" anchor="t">
            <a:spAutoFit/>
          </a:bodyPr>
          <a:lstStyle/>
          <a:p>
            <a:pPr algn="l"/>
            <a:r>
              <a:rPr sz="1080" b="0" i="0">
                <a:solidFill>
                  <a:srgbClr val="33475B"/>
                </a:solidFill>
                <a:latin typeface="Arial"/>
              </a:rPr>
              <a:t>0.911</a:t>
            </a:r>
          </a:p>
        </p:txBody>
      </p:sp>
      <p:sp>
        <p:nvSpPr>
          <p:cNvPr id="65" name="TextBox 64"/>
          <p:cNvSpPr txBox="1"/>
          <p:nvPr/>
        </p:nvSpPr>
        <p:spPr>
          <a:xfrm>
            <a:off x="5370728" y="3954780"/>
            <a:ext cx="830503" cy="219456"/>
          </a:xfrm>
          <a:prstGeom prst="rect">
            <a:avLst/>
          </a:prstGeom>
          <a:noFill/>
        </p:spPr>
        <p:txBody>
          <a:bodyPr wrap="square" lIns="0" rIns="0" tIns="0" bIns="0" anchor="t">
            <a:spAutoFit/>
          </a:bodyPr>
          <a:lstStyle/>
          <a:p>
            <a:pPr algn="l"/>
            <a:r>
              <a:rPr sz="1080" b="0" i="0">
                <a:solidFill>
                  <a:srgbClr val="33475B"/>
                </a:solidFill>
                <a:latin typeface="Arial"/>
              </a:rPr>
              <a:t>0.942</a:t>
            </a:r>
          </a:p>
        </p:txBody>
      </p:sp>
      <p:sp>
        <p:nvSpPr>
          <p:cNvPr id="66" name="TextBox 65"/>
          <p:cNvSpPr txBox="1"/>
          <p:nvPr/>
        </p:nvSpPr>
        <p:spPr>
          <a:xfrm>
            <a:off x="6384112" y="3954780"/>
            <a:ext cx="830503" cy="219456"/>
          </a:xfrm>
          <a:prstGeom prst="rect">
            <a:avLst/>
          </a:prstGeom>
          <a:noFill/>
        </p:spPr>
        <p:txBody>
          <a:bodyPr wrap="square" lIns="0" rIns="0" tIns="0" bIns="0" anchor="t">
            <a:spAutoFit/>
          </a:bodyPr>
          <a:lstStyle/>
          <a:p>
            <a:pPr algn="l"/>
            <a:r>
              <a:rPr sz="1080" b="0" i="0">
                <a:solidFill>
                  <a:srgbClr val="33475B"/>
                </a:solidFill>
                <a:latin typeface="Arial"/>
              </a:rPr>
              <a:t>0.893</a:t>
            </a:r>
          </a:p>
        </p:txBody>
      </p:sp>
      <p:sp>
        <p:nvSpPr>
          <p:cNvPr id="67" name="Rectangle 66"/>
          <p:cNvSpPr/>
          <p:nvPr/>
        </p:nvSpPr>
        <p:spPr>
          <a:xfrm>
            <a:off x="731520" y="4489703"/>
            <a:ext cx="6537960" cy="640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59536" y="4274820"/>
            <a:ext cx="732434" cy="219456"/>
          </a:xfrm>
          <a:prstGeom prst="rect">
            <a:avLst/>
          </a:prstGeom>
          <a:noFill/>
        </p:spPr>
        <p:txBody>
          <a:bodyPr wrap="square" lIns="0" rIns="0" tIns="0" bIns="0" anchor="t">
            <a:spAutoFit/>
          </a:bodyPr>
          <a:lstStyle/>
          <a:p>
            <a:pPr algn="l"/>
            <a:r>
              <a:rPr sz="1080" b="1" i="0">
                <a:solidFill>
                  <a:srgbClr val="0B1F2A"/>
                </a:solidFill>
                <a:latin typeface="Arial"/>
              </a:rPr>
              <a:t>512</a:t>
            </a:r>
          </a:p>
        </p:txBody>
      </p:sp>
      <p:sp>
        <p:nvSpPr>
          <p:cNvPr id="69" name="TextBox 68"/>
          <p:cNvSpPr txBox="1"/>
          <p:nvPr/>
        </p:nvSpPr>
        <p:spPr>
          <a:xfrm>
            <a:off x="1774850" y="4274820"/>
            <a:ext cx="1386230" cy="219456"/>
          </a:xfrm>
          <a:prstGeom prst="rect">
            <a:avLst/>
          </a:prstGeom>
          <a:noFill/>
        </p:spPr>
        <p:txBody>
          <a:bodyPr wrap="square" lIns="0" rIns="0" tIns="0" bIns="0" anchor="t">
            <a:spAutoFit/>
          </a:bodyPr>
          <a:lstStyle/>
          <a:p>
            <a:pPr algn="l"/>
            <a:r>
              <a:rPr sz="1080" b="0" i="0">
                <a:solidFill>
                  <a:srgbClr val="33475B"/>
                </a:solidFill>
                <a:latin typeface="Arial"/>
              </a:rPr>
              <a:t>Keyword</a:t>
            </a:r>
          </a:p>
        </p:txBody>
      </p:sp>
      <p:sp>
        <p:nvSpPr>
          <p:cNvPr id="70" name="TextBox 69"/>
          <p:cNvSpPr txBox="1"/>
          <p:nvPr/>
        </p:nvSpPr>
        <p:spPr>
          <a:xfrm>
            <a:off x="3343960" y="4274820"/>
            <a:ext cx="830503" cy="219456"/>
          </a:xfrm>
          <a:prstGeom prst="rect">
            <a:avLst/>
          </a:prstGeom>
          <a:noFill/>
        </p:spPr>
        <p:txBody>
          <a:bodyPr wrap="square" lIns="0" rIns="0" tIns="0" bIns="0" anchor="t">
            <a:spAutoFit/>
          </a:bodyPr>
          <a:lstStyle/>
          <a:p>
            <a:pPr algn="l"/>
            <a:r>
              <a:rPr sz="1080" b="0" i="0">
                <a:solidFill>
                  <a:srgbClr val="33475B"/>
                </a:solidFill>
                <a:latin typeface="Arial"/>
              </a:rPr>
              <a:t>0.247</a:t>
            </a:r>
          </a:p>
        </p:txBody>
      </p:sp>
      <p:sp>
        <p:nvSpPr>
          <p:cNvPr id="71" name="TextBox 70"/>
          <p:cNvSpPr txBox="1"/>
          <p:nvPr/>
        </p:nvSpPr>
        <p:spPr>
          <a:xfrm>
            <a:off x="4357344" y="4274820"/>
            <a:ext cx="830503" cy="219456"/>
          </a:xfrm>
          <a:prstGeom prst="rect">
            <a:avLst/>
          </a:prstGeom>
          <a:noFill/>
        </p:spPr>
        <p:txBody>
          <a:bodyPr wrap="square" lIns="0" rIns="0" tIns="0" bIns="0" anchor="t">
            <a:spAutoFit/>
          </a:bodyPr>
          <a:lstStyle/>
          <a:p>
            <a:pPr algn="l"/>
            <a:r>
              <a:rPr sz="1080" b="0" i="0">
                <a:solidFill>
                  <a:srgbClr val="33475B"/>
                </a:solidFill>
                <a:latin typeface="Arial"/>
              </a:rPr>
              <a:t>0.872</a:t>
            </a:r>
          </a:p>
        </p:txBody>
      </p:sp>
      <p:sp>
        <p:nvSpPr>
          <p:cNvPr id="72" name="TextBox 71"/>
          <p:cNvSpPr txBox="1"/>
          <p:nvPr/>
        </p:nvSpPr>
        <p:spPr>
          <a:xfrm>
            <a:off x="5370728" y="4274820"/>
            <a:ext cx="830503" cy="219456"/>
          </a:xfrm>
          <a:prstGeom prst="rect">
            <a:avLst/>
          </a:prstGeom>
          <a:noFill/>
        </p:spPr>
        <p:txBody>
          <a:bodyPr wrap="square" lIns="0" rIns="0" tIns="0" bIns="0" anchor="t">
            <a:spAutoFit/>
          </a:bodyPr>
          <a:lstStyle/>
          <a:p>
            <a:pPr algn="l"/>
            <a:r>
              <a:rPr sz="1080" b="0" i="0">
                <a:solidFill>
                  <a:srgbClr val="33475B"/>
                </a:solidFill>
                <a:latin typeface="Arial"/>
              </a:rPr>
              <a:t>0.883</a:t>
            </a:r>
          </a:p>
        </p:txBody>
      </p:sp>
      <p:sp>
        <p:nvSpPr>
          <p:cNvPr id="73" name="TextBox 72"/>
          <p:cNvSpPr txBox="1"/>
          <p:nvPr/>
        </p:nvSpPr>
        <p:spPr>
          <a:xfrm>
            <a:off x="6384112" y="4274820"/>
            <a:ext cx="830503" cy="219456"/>
          </a:xfrm>
          <a:prstGeom prst="rect">
            <a:avLst/>
          </a:prstGeom>
          <a:noFill/>
        </p:spPr>
        <p:txBody>
          <a:bodyPr wrap="square" lIns="0" rIns="0" tIns="0" bIns="0" anchor="t">
            <a:spAutoFit/>
          </a:bodyPr>
          <a:lstStyle/>
          <a:p>
            <a:pPr algn="l"/>
            <a:r>
              <a:rPr sz="1080" b="0" i="0">
                <a:solidFill>
                  <a:srgbClr val="33475B"/>
                </a:solidFill>
                <a:latin typeface="Arial"/>
              </a:rPr>
              <a:t>0.856</a:t>
            </a:r>
          </a:p>
        </p:txBody>
      </p:sp>
      <p:sp>
        <p:nvSpPr>
          <p:cNvPr id="74" name="Rounded Rectangle 73"/>
          <p:cNvSpPr/>
          <p:nvPr/>
        </p:nvSpPr>
        <p:spPr>
          <a:xfrm>
            <a:off x="7635240" y="2231136"/>
            <a:ext cx="3840480" cy="1828800"/>
          </a:xfrm>
          <a:prstGeom prst="roundRect">
            <a:avLst>
              <a:gd name="adj" fmla="val 4250"/>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48041" y="2242108"/>
            <a:ext cx="3814876"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872983" y="2450591"/>
            <a:ext cx="3364992" cy="256032"/>
          </a:xfrm>
          <a:prstGeom prst="rect">
            <a:avLst/>
          </a:prstGeom>
          <a:noFill/>
        </p:spPr>
        <p:txBody>
          <a:bodyPr wrap="square" lIns="0" rIns="0" tIns="0" bIns="0" anchor="t">
            <a:spAutoFit/>
          </a:bodyPr>
          <a:lstStyle/>
          <a:p>
            <a:pPr algn="l"/>
            <a:r>
              <a:rPr sz="1100" b="1" i="0" spc="120">
                <a:solidFill>
                  <a:srgbClr val="B45309"/>
                </a:solidFill>
                <a:latin typeface="Arial"/>
              </a:rPr>
              <a:t>PER-QUERY OUTCOME AT 512</a:t>
            </a:r>
          </a:p>
        </p:txBody>
      </p:sp>
      <p:pic>
        <p:nvPicPr>
          <p:cNvPr id="77" name="Picture 76" descr="p1_wins.png"/>
          <p:cNvPicPr>
            <a:picLocks noChangeAspect="1"/>
          </p:cNvPicPr>
          <p:nvPr/>
        </p:nvPicPr>
        <p:blipFill>
          <a:blip r:embed="rId2"/>
          <a:stretch>
            <a:fillRect/>
          </a:stretch>
        </p:blipFill>
        <p:spPr>
          <a:xfrm>
            <a:off x="7790688" y="2761488"/>
            <a:ext cx="3520440" cy="841248"/>
          </a:xfrm>
          <a:prstGeom prst="rect">
            <a:avLst/>
          </a:prstGeom>
        </p:spPr>
      </p:pic>
      <p:sp>
        <p:nvSpPr>
          <p:cNvPr id="78" name="Rounded Rectangle 77"/>
          <p:cNvSpPr/>
          <p:nvPr/>
        </p:nvSpPr>
        <p:spPr>
          <a:xfrm>
            <a:off x="7635240" y="4224528"/>
            <a:ext cx="3840480" cy="1645920"/>
          </a:xfrm>
          <a:prstGeom prst="roundRect">
            <a:avLst>
              <a:gd name="adj" fmla="val 4722"/>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648041" y="4235500"/>
            <a:ext cx="3814876" cy="45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872983" y="4443984"/>
            <a:ext cx="3364992" cy="256032"/>
          </a:xfrm>
          <a:prstGeom prst="rect">
            <a:avLst/>
          </a:prstGeom>
          <a:noFill/>
        </p:spPr>
        <p:txBody>
          <a:bodyPr wrap="square" lIns="0" rIns="0" tIns="0" bIns="0" anchor="t">
            <a:spAutoFit/>
          </a:bodyPr>
          <a:lstStyle/>
          <a:p>
            <a:pPr algn="l"/>
            <a:r>
              <a:rPr sz="1100" b="1" i="0" spc="120">
                <a:solidFill>
                  <a:srgbClr val="B91C1C"/>
                </a:solidFill>
                <a:latin typeface="Arial"/>
              </a:rPr>
              <a:t>READ THIS HONESTLY</a:t>
            </a:r>
          </a:p>
        </p:txBody>
      </p:sp>
      <p:sp>
        <p:nvSpPr>
          <p:cNvPr id="81" name="TextBox 80"/>
          <p:cNvSpPr txBox="1"/>
          <p:nvPr/>
        </p:nvSpPr>
        <p:spPr>
          <a:xfrm>
            <a:off x="7872983" y="4736592"/>
            <a:ext cx="3364992" cy="1005840"/>
          </a:xfrm>
          <a:prstGeom prst="rect">
            <a:avLst/>
          </a:prstGeom>
          <a:noFill/>
        </p:spPr>
        <p:txBody>
          <a:bodyPr wrap="square" lIns="0" rIns="0" tIns="0" bIns="0" anchor="t">
            <a:spAutoFit/>
          </a:bodyPr>
          <a:lstStyle/>
          <a:p>
            <a:pPr algn="l">
              <a:lnSpc>
                <a:spcPct val="128000"/>
              </a:lnSpc>
            </a:pPr>
            <a:r>
              <a:rPr sz="1140" b="0" i="0">
                <a:solidFill>
                  <a:srgbClr val="33475B"/>
                </a:solidFill>
                <a:latin typeface="Arial"/>
              </a:rPr>
              <a:t>Three chunk sizes, three different verdicts. That is what a difference smaller than the noise looks like when you plot it.</a:t>
            </a:r>
          </a:p>
        </p:txBody>
      </p:sp>
      <p:sp>
        <p:nvSpPr>
          <p:cNvPr id="82" name="TextBox 81"/>
          <p:cNvSpPr txBox="1"/>
          <p:nvPr/>
        </p:nvSpPr>
        <p:spPr>
          <a:xfrm>
            <a:off x="731520" y="4626864"/>
            <a:ext cx="6537960" cy="438912"/>
          </a:xfrm>
          <a:prstGeom prst="rect">
            <a:avLst/>
          </a:prstGeom>
          <a:noFill/>
        </p:spPr>
        <p:txBody>
          <a:bodyPr wrap="square" lIns="0" rIns="0" tIns="0" bIns="0" anchor="t">
            <a:spAutoFit/>
          </a:bodyPr>
          <a:lstStyle/>
          <a:p>
            <a:pPr algn="l">
              <a:lnSpc>
                <a:spcPct val="120000"/>
              </a:lnSpc>
            </a:pPr>
            <a:r>
              <a:rPr sz="1060" b="0" i="0">
                <a:solidFill>
                  <a:srgbClr val="6B7F91"/>
                </a:solidFill>
                <a:latin typeface="Arial"/>
              </a:rPr>
              <a:t>Precision@5 is capped by design: most queries have one or two relevant notes, so only the comparison between rows carries meaning.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Vinay Krishna Kommalapati</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RESULTS</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Split by question type</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The aggregate hides the whole story</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Once the same 30 queries are split by what kind of question they are, the two methods separate cleanly and in opposite directions.</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Vinay Krishna Kommalapati  •  8:30–9:30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pic>
        <p:nvPicPr>
          <p:cNvPr id="25" name="Picture 24" descr="p1_bytype.png"/>
          <p:cNvPicPr>
            <a:picLocks noChangeAspect="1"/>
          </p:cNvPicPr>
          <p:nvPr/>
        </p:nvPicPr>
        <p:blipFill>
          <a:blip r:embed="rId2"/>
          <a:stretch>
            <a:fillRect/>
          </a:stretch>
        </p:blipFill>
        <p:spPr>
          <a:xfrm>
            <a:off x="566928" y="2157984"/>
            <a:ext cx="6720840" cy="2880360"/>
          </a:xfrm>
          <a:prstGeom prst="rect">
            <a:avLst/>
          </a:prstGeom>
        </p:spPr>
      </p:pic>
      <p:sp>
        <p:nvSpPr>
          <p:cNvPr id="26" name="TextBox 25"/>
          <p:cNvSpPr txBox="1"/>
          <p:nvPr/>
        </p:nvSpPr>
        <p:spPr>
          <a:xfrm>
            <a:off x="566928" y="5129783"/>
            <a:ext cx="6720840" cy="274320"/>
          </a:xfrm>
          <a:prstGeom prst="rect">
            <a:avLst/>
          </a:prstGeom>
          <a:noFill/>
        </p:spPr>
        <p:txBody>
          <a:bodyPr wrap="square" lIns="0" rIns="0" tIns="0" bIns="0" anchor="t">
            <a:spAutoFit/>
          </a:bodyPr>
          <a:lstStyle/>
          <a:p>
            <a:pPr algn="l">
              <a:lnSpc>
                <a:spcPct val="120000"/>
              </a:lnSpc>
            </a:pPr>
            <a:r>
              <a:rPr sz="980" b="0" i="0">
                <a:solidFill>
                  <a:srgbClr val="6B7F91"/>
                </a:solidFill>
                <a:latin typeface="Arial"/>
              </a:rPr>
              <a:t>Higher is better. Every query is scored by both methods over the identical chunk set.</a:t>
            </a:r>
          </a:p>
        </p:txBody>
      </p:sp>
      <p:sp>
        <p:nvSpPr>
          <p:cNvPr id="27" name="Rounded Rectangle 26"/>
          <p:cNvSpPr/>
          <p:nvPr/>
        </p:nvSpPr>
        <p:spPr>
          <a:xfrm>
            <a:off x="7635240" y="2286000"/>
            <a:ext cx="3840480" cy="1481328"/>
          </a:xfrm>
          <a:prstGeom prst="roundRect">
            <a:avLst>
              <a:gd name="adj" fmla="val 524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48041" y="2296972"/>
            <a:ext cx="381487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72983" y="2505456"/>
            <a:ext cx="3364992" cy="256032"/>
          </a:xfrm>
          <a:prstGeom prst="rect">
            <a:avLst/>
          </a:prstGeom>
          <a:noFill/>
        </p:spPr>
        <p:txBody>
          <a:bodyPr wrap="square" lIns="0" rIns="0" tIns="0" bIns="0" anchor="t">
            <a:spAutoFit/>
          </a:bodyPr>
          <a:lstStyle/>
          <a:p>
            <a:pPr algn="l"/>
            <a:r>
              <a:rPr sz="1100" b="1" i="0" spc="120">
                <a:solidFill>
                  <a:srgbClr val="0F766E"/>
                </a:solidFill>
                <a:latin typeface="Arial"/>
              </a:rPr>
              <a:t>SEMANTIC WINS</a:t>
            </a:r>
          </a:p>
        </p:txBody>
      </p:sp>
      <p:sp>
        <p:nvSpPr>
          <p:cNvPr id="30" name="TextBox 29"/>
          <p:cNvSpPr txBox="1"/>
          <p:nvPr/>
        </p:nvSpPr>
        <p:spPr>
          <a:xfrm>
            <a:off x="7872983" y="2779776"/>
            <a:ext cx="3364992" cy="868680"/>
          </a:xfrm>
          <a:prstGeom prst="rect">
            <a:avLst/>
          </a:prstGeom>
          <a:noFill/>
        </p:spPr>
        <p:txBody>
          <a:bodyPr wrap="square" lIns="0" rIns="0" tIns="0" bIns="0" anchor="t">
            <a:spAutoFit/>
          </a:bodyPr>
          <a:lstStyle/>
          <a:p>
            <a:pPr algn="l">
              <a:lnSpc>
                <a:spcPct val="125000"/>
              </a:lnSpc>
            </a:pPr>
            <a:r>
              <a:rPr sz="1140" b="0" i="0">
                <a:solidFill>
                  <a:srgbClr val="33475B"/>
                </a:solidFill>
                <a:latin typeface="Arial"/>
              </a:rPr>
              <a:t>+0.175 MRR on paraphrases, where the note shares no vocabulary with the query.</a:t>
            </a:r>
          </a:p>
        </p:txBody>
      </p:sp>
      <p:sp>
        <p:nvSpPr>
          <p:cNvPr id="31" name="Rounded Rectangle 30"/>
          <p:cNvSpPr/>
          <p:nvPr/>
        </p:nvSpPr>
        <p:spPr>
          <a:xfrm>
            <a:off x="7635240" y="3931920"/>
            <a:ext cx="3840480" cy="1481328"/>
          </a:xfrm>
          <a:prstGeom prst="roundRect">
            <a:avLst>
              <a:gd name="adj" fmla="val 524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48041" y="3942892"/>
            <a:ext cx="3814876"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72983" y="4151376"/>
            <a:ext cx="3364992" cy="256032"/>
          </a:xfrm>
          <a:prstGeom prst="rect">
            <a:avLst/>
          </a:prstGeom>
          <a:noFill/>
        </p:spPr>
        <p:txBody>
          <a:bodyPr wrap="square" lIns="0" rIns="0" tIns="0" bIns="0" anchor="t">
            <a:spAutoFit/>
          </a:bodyPr>
          <a:lstStyle/>
          <a:p>
            <a:pPr algn="l"/>
            <a:r>
              <a:rPr sz="1100" b="1" i="0" spc="120">
                <a:solidFill>
                  <a:srgbClr val="B45309"/>
                </a:solidFill>
                <a:latin typeface="Arial"/>
              </a:rPr>
              <a:t>KEYWORD WINS</a:t>
            </a:r>
          </a:p>
        </p:txBody>
      </p:sp>
      <p:sp>
        <p:nvSpPr>
          <p:cNvPr id="34" name="TextBox 33"/>
          <p:cNvSpPr txBox="1"/>
          <p:nvPr/>
        </p:nvSpPr>
        <p:spPr>
          <a:xfrm>
            <a:off x="7872983" y="4425696"/>
            <a:ext cx="3364992" cy="868680"/>
          </a:xfrm>
          <a:prstGeom prst="rect">
            <a:avLst/>
          </a:prstGeom>
          <a:noFill/>
        </p:spPr>
        <p:txBody>
          <a:bodyPr wrap="square" lIns="0" rIns="0" tIns="0" bIns="0" anchor="t">
            <a:spAutoFit/>
          </a:bodyPr>
          <a:lstStyle/>
          <a:p>
            <a:pPr algn="l">
              <a:lnSpc>
                <a:spcPct val="125000"/>
              </a:lnSpc>
            </a:pPr>
            <a:r>
              <a:rPr sz="1140" b="0" i="0">
                <a:solidFill>
                  <a:srgbClr val="33475B"/>
                </a:solidFill>
                <a:latin typeface="Arial"/>
              </a:rPr>
              <a:t>A perfect 1.000 on rare literal tokens, at every chunk size, and roughly sixty times faster.</a:t>
            </a:r>
          </a:p>
        </p:txBody>
      </p:sp>
      <p:sp>
        <p:nvSpPr>
          <p:cNvPr id="35" name="TextBox 34"/>
          <p:cNvSpPr txBox="1"/>
          <p:nvPr/>
        </p:nvSpPr>
        <p:spPr>
          <a:xfrm>
            <a:off x="566928" y="5577840"/>
            <a:ext cx="10881360" cy="530352"/>
          </a:xfrm>
          <a:prstGeom prst="rect">
            <a:avLst/>
          </a:prstGeom>
          <a:noFill/>
        </p:spPr>
        <p:txBody>
          <a:bodyPr wrap="square" lIns="0" rIns="0" tIns="0" bIns="0" anchor="t">
            <a:spAutoFit/>
          </a:bodyPr>
          <a:lstStyle/>
          <a:p>
            <a:pPr algn="l">
              <a:lnSpc>
                <a:spcPct val="124000"/>
              </a:lnSpc>
            </a:pPr>
            <a:r>
              <a:rPr sz="1180" b="0" i="0">
                <a:solidFill>
                  <a:srgbClr val="0B1F2A"/>
                </a:solidFill>
                <a:latin typeface="Arial"/>
              </a:rPr>
              <a:t>This is the trade the proposal predicted before we measured it: embeddings reach meaning, BM25 owns exact strings, and on ordinary lookups it barely matters. The two effects very nearly cancel, which is exactly why the aggregate looked like nothing.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Nithinreddy Duggireddy</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RESULTS</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Chunk size</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512 wins, and the reason undercuts the result</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Recall and nDCG both cross twice across the sweep. Whichever method leads depends entirely on the chunk size, which is itself a null result.</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Nithinreddy Duggireddy  •  9:30–10:10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pic>
        <p:nvPicPr>
          <p:cNvPr id="25" name="Picture 24" descr="p1_chunk.png"/>
          <p:cNvPicPr>
            <a:picLocks noChangeAspect="1"/>
          </p:cNvPicPr>
          <p:nvPr/>
        </p:nvPicPr>
        <p:blipFill>
          <a:blip r:embed="rId2"/>
          <a:stretch>
            <a:fillRect/>
          </a:stretch>
        </p:blipFill>
        <p:spPr>
          <a:xfrm>
            <a:off x="566928" y="2212848"/>
            <a:ext cx="6720840" cy="2788920"/>
          </a:xfrm>
          <a:prstGeom prst="rect">
            <a:avLst/>
          </a:prstGeom>
        </p:spPr>
      </p:pic>
      <p:sp>
        <p:nvSpPr>
          <p:cNvPr id="26" name="TextBox 25"/>
          <p:cNvSpPr txBox="1"/>
          <p:nvPr/>
        </p:nvSpPr>
        <p:spPr>
          <a:xfrm>
            <a:off x="566928" y="5093207"/>
            <a:ext cx="6720840" cy="274320"/>
          </a:xfrm>
          <a:prstGeom prst="rect">
            <a:avLst/>
          </a:prstGeom>
          <a:noFill/>
        </p:spPr>
        <p:txBody>
          <a:bodyPr wrap="square" lIns="0" rIns="0" tIns="0" bIns="0" anchor="t">
            <a:spAutoFit/>
          </a:bodyPr>
          <a:lstStyle/>
          <a:p>
            <a:pPr algn="l">
              <a:lnSpc>
                <a:spcPct val="120000"/>
              </a:lnSpc>
            </a:pPr>
            <a:r>
              <a:rPr sz="980" b="0" i="0">
                <a:solidFill>
                  <a:srgbClr val="6B7F91"/>
                </a:solidFill>
                <a:latin typeface="Arial"/>
              </a:rPr>
              <a:t>Note the truncated vertical axes: the whole spread is under 0.08 on both metrics.</a:t>
            </a:r>
          </a:p>
        </p:txBody>
      </p:sp>
      <p:sp>
        <p:nvSpPr>
          <p:cNvPr id="27" name="Rounded Rectangle 26"/>
          <p:cNvSpPr/>
          <p:nvPr/>
        </p:nvSpPr>
        <p:spPr>
          <a:xfrm>
            <a:off x="7635240" y="2286000"/>
            <a:ext cx="3840480" cy="3127248"/>
          </a:xfrm>
          <a:prstGeom prst="roundRect">
            <a:avLst>
              <a:gd name="adj" fmla="val 2485"/>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48041" y="2296972"/>
            <a:ext cx="3814876" cy="45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72983" y="2505456"/>
            <a:ext cx="3364992" cy="256032"/>
          </a:xfrm>
          <a:prstGeom prst="rect">
            <a:avLst/>
          </a:prstGeom>
          <a:noFill/>
        </p:spPr>
        <p:txBody>
          <a:bodyPr wrap="square" lIns="0" rIns="0" tIns="0" bIns="0" anchor="t">
            <a:spAutoFit/>
          </a:bodyPr>
          <a:lstStyle/>
          <a:p>
            <a:pPr algn="l"/>
            <a:r>
              <a:rPr sz="1100" b="1" i="0" spc="120">
                <a:solidFill>
                  <a:srgbClr val="B91C1C"/>
                </a:solidFill>
                <a:latin typeface="Arial"/>
              </a:rPr>
              <a:t>THE CAVEAT THAT MATTERS</a:t>
            </a:r>
          </a:p>
        </p:txBody>
      </p:sp>
      <p:sp>
        <p:nvSpPr>
          <p:cNvPr id="30" name="TextBox 29"/>
          <p:cNvSpPr txBox="1"/>
          <p:nvPr/>
        </p:nvSpPr>
        <p:spPr>
          <a:xfrm>
            <a:off x="7872983" y="2798064"/>
            <a:ext cx="3364992" cy="2468880"/>
          </a:xfrm>
          <a:prstGeom prst="rect">
            <a:avLst/>
          </a:prstGeom>
          <a:noFill/>
        </p:spPr>
        <p:txBody>
          <a:bodyPr wrap="square" lIns="0" rIns="0" tIns="0" bIns="0" anchor="t">
            <a:spAutoFit/>
          </a:bodyPr>
          <a:lstStyle/>
          <a:p>
            <a:pPr algn="l">
              <a:lnSpc>
                <a:spcPct val="130000"/>
              </a:lnSpc>
            </a:pPr>
            <a:r>
              <a:rPr sz="1140" b="0" i="0">
                <a:solidFill>
                  <a:srgbClr val="33475B"/>
                </a:solidFill>
                <a:latin typeface="Arial"/>
              </a:rPr>
              <a:t>Our notes are 250 to 350 words each, so at 512 tokens every note becomes exactly one chunk. 33 notes, 33 chunks.
That row is really measuring whole-note indexing, not a chunk size. On a corpus of longer documents it would not hold, and we say so rather than claiming 512 as a recommendation.</a:t>
            </a:r>
          </a:p>
        </p:txBody>
      </p:sp>
      <p:sp>
        <p:nvSpPr>
          <p:cNvPr id="31" name="TextBox 30"/>
          <p:cNvSpPr txBox="1"/>
          <p:nvPr/>
        </p:nvSpPr>
        <p:spPr>
          <a:xfrm>
            <a:off x="566928" y="5596128"/>
            <a:ext cx="6720840" cy="365760"/>
          </a:xfrm>
          <a:prstGeom prst="rect">
            <a:avLst/>
          </a:prstGeom>
          <a:noFill/>
        </p:spPr>
        <p:txBody>
          <a:bodyPr wrap="square" lIns="0" rIns="0" tIns="0" bIns="0" anchor="t">
            <a:spAutoFit/>
          </a:bodyPr>
          <a:lstStyle/>
          <a:p>
            <a:pPr algn="l"/>
            <a:r>
              <a:rPr sz="1080" b="0" i="0">
                <a:solidFill>
                  <a:srgbClr val="6B7F91"/>
                </a:solidFill>
                <a:latin typeface="Arial"/>
              </a:rPr>
              <a:t>Overlap scales with the window, so chunk size stays the only variable across the sweep.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Venugopal Raja</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DISCUSSION</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What surprised us</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Three things we did not expect</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None of these were in the proposal. Two of them changed how we report the results.</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Venugopal Raja  •  10:10–10:50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Rounded Rectangle 24"/>
          <p:cNvSpPr/>
          <p:nvPr/>
        </p:nvSpPr>
        <p:spPr>
          <a:xfrm>
            <a:off x="731520" y="2286000"/>
            <a:ext cx="3429000" cy="3520440"/>
          </a:xfrm>
          <a:prstGeom prst="roundRect">
            <a:avLst>
              <a:gd name="adj" fmla="val 2207"/>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4321" y="2296972"/>
            <a:ext cx="340339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2615184"/>
            <a:ext cx="1005840" cy="420624"/>
          </a:xfrm>
          <a:prstGeom prst="rect">
            <a:avLst/>
          </a:prstGeom>
          <a:noFill/>
        </p:spPr>
        <p:txBody>
          <a:bodyPr wrap="square" lIns="0" rIns="0" tIns="0" bIns="0" anchor="t">
            <a:spAutoFit/>
          </a:bodyPr>
          <a:lstStyle/>
          <a:p>
            <a:pPr algn="l"/>
            <a:r>
              <a:rPr sz="2500" b="1" i="0">
                <a:solidFill>
                  <a:srgbClr val="0F766E"/>
                </a:solidFill>
                <a:latin typeface="Arial"/>
              </a:rPr>
              <a:t>01</a:t>
            </a:r>
          </a:p>
        </p:txBody>
      </p:sp>
      <p:sp>
        <p:nvSpPr>
          <p:cNvPr id="28" name="TextBox 27"/>
          <p:cNvSpPr txBox="1"/>
          <p:nvPr/>
        </p:nvSpPr>
        <p:spPr>
          <a:xfrm>
            <a:off x="969264" y="3163824"/>
            <a:ext cx="2953512" cy="548640"/>
          </a:xfrm>
          <a:prstGeom prst="rect">
            <a:avLst/>
          </a:prstGeom>
          <a:noFill/>
        </p:spPr>
        <p:txBody>
          <a:bodyPr wrap="square" lIns="0" rIns="0" tIns="0" bIns="0" anchor="t">
            <a:spAutoFit/>
          </a:bodyPr>
          <a:lstStyle/>
          <a:p>
            <a:pPr algn="l">
              <a:lnSpc>
                <a:spcPct val="115000"/>
              </a:lnSpc>
            </a:pPr>
            <a:r>
              <a:rPr sz="1450" b="1" i="0">
                <a:solidFill>
                  <a:srgbClr val="0B1F2A"/>
                </a:solidFill>
                <a:latin typeface="Arial"/>
              </a:rPr>
              <a:t>The aggregate was a tie</a:t>
            </a:r>
          </a:p>
        </p:txBody>
      </p:sp>
      <p:sp>
        <p:nvSpPr>
          <p:cNvPr id="29" name="TextBox 28"/>
          <p:cNvSpPr txBox="1"/>
          <p:nvPr/>
        </p:nvSpPr>
        <p:spPr>
          <a:xfrm>
            <a:off x="969264" y="3858768"/>
            <a:ext cx="2953512" cy="1828800"/>
          </a:xfrm>
          <a:prstGeom prst="rect">
            <a:avLst/>
          </a:prstGeom>
          <a:noFill/>
        </p:spPr>
        <p:txBody>
          <a:bodyPr wrap="square" lIns="0" rIns="0" tIns="0" bIns="0" anchor="t">
            <a:spAutoFit/>
          </a:bodyPr>
          <a:lstStyle/>
          <a:p>
            <a:pPr algn="l">
              <a:lnSpc>
                <a:spcPct val="130000"/>
              </a:lnSpc>
            </a:pPr>
            <a:r>
              <a:rPr sz="1140" b="0" i="0">
                <a:solidFill>
                  <a:srgbClr val="33475B"/>
                </a:solidFill>
                <a:latin typeface="Arial"/>
              </a:rPr>
              <a:t>We expected dense retrieval to win outright. 23 of 30 queries were ties. The finding only exists because we split by question type afterwards.</a:t>
            </a:r>
          </a:p>
        </p:txBody>
      </p:sp>
      <p:sp>
        <p:nvSpPr>
          <p:cNvPr id="30" name="Rounded Rectangle 29"/>
          <p:cNvSpPr/>
          <p:nvPr/>
        </p:nvSpPr>
        <p:spPr>
          <a:xfrm>
            <a:off x="4389120" y="2286000"/>
            <a:ext cx="3429000" cy="3520440"/>
          </a:xfrm>
          <a:prstGeom prst="roundRect">
            <a:avLst>
              <a:gd name="adj" fmla="val 2207"/>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01921" y="2296972"/>
            <a:ext cx="3403396"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26864" y="2615184"/>
            <a:ext cx="1005840" cy="420624"/>
          </a:xfrm>
          <a:prstGeom prst="rect">
            <a:avLst/>
          </a:prstGeom>
          <a:noFill/>
        </p:spPr>
        <p:txBody>
          <a:bodyPr wrap="square" lIns="0" rIns="0" tIns="0" bIns="0" anchor="t">
            <a:spAutoFit/>
          </a:bodyPr>
          <a:lstStyle/>
          <a:p>
            <a:pPr algn="l"/>
            <a:r>
              <a:rPr sz="2500" b="1" i="0">
                <a:solidFill>
                  <a:srgbClr val="B45309"/>
                </a:solidFill>
                <a:latin typeface="Arial"/>
              </a:rPr>
              <a:t>02</a:t>
            </a:r>
          </a:p>
        </p:txBody>
      </p:sp>
      <p:sp>
        <p:nvSpPr>
          <p:cNvPr id="33" name="TextBox 32"/>
          <p:cNvSpPr txBox="1"/>
          <p:nvPr/>
        </p:nvSpPr>
        <p:spPr>
          <a:xfrm>
            <a:off x="4626864" y="3163824"/>
            <a:ext cx="2953512" cy="548640"/>
          </a:xfrm>
          <a:prstGeom prst="rect">
            <a:avLst/>
          </a:prstGeom>
          <a:noFill/>
        </p:spPr>
        <p:txBody>
          <a:bodyPr wrap="square" lIns="0" rIns="0" tIns="0" bIns="0" anchor="t">
            <a:spAutoFit/>
          </a:bodyPr>
          <a:lstStyle/>
          <a:p>
            <a:pPr algn="l">
              <a:lnSpc>
                <a:spcPct val="115000"/>
              </a:lnSpc>
            </a:pPr>
            <a:r>
              <a:rPr sz="1450" b="1" i="0">
                <a:solidFill>
                  <a:srgbClr val="0B1F2A"/>
                </a:solidFill>
                <a:latin typeface="Arial"/>
              </a:rPr>
              <a:t>512 stopped being chunking</a:t>
            </a:r>
          </a:p>
        </p:txBody>
      </p:sp>
      <p:sp>
        <p:nvSpPr>
          <p:cNvPr id="34" name="TextBox 33"/>
          <p:cNvSpPr txBox="1"/>
          <p:nvPr/>
        </p:nvSpPr>
        <p:spPr>
          <a:xfrm>
            <a:off x="4626864" y="3858768"/>
            <a:ext cx="2953512" cy="1828800"/>
          </a:xfrm>
          <a:prstGeom prst="rect">
            <a:avLst/>
          </a:prstGeom>
          <a:noFill/>
        </p:spPr>
        <p:txBody>
          <a:bodyPr wrap="square" lIns="0" rIns="0" tIns="0" bIns="0" anchor="t">
            <a:spAutoFit/>
          </a:bodyPr>
          <a:lstStyle/>
          <a:p>
            <a:pPr algn="l">
              <a:lnSpc>
                <a:spcPct val="130000"/>
              </a:lnSpc>
            </a:pPr>
            <a:r>
              <a:rPr sz="1140" b="0" i="0">
                <a:solidFill>
                  <a:srgbClr val="33475B"/>
                </a:solidFill>
                <a:latin typeface="Arial"/>
              </a:rPr>
              <a:t>At the largest setting every note collapsed to a single chunk, so the best-scoring row in our table is measuring something other than what the column header says.</a:t>
            </a:r>
          </a:p>
        </p:txBody>
      </p:sp>
      <p:sp>
        <p:nvSpPr>
          <p:cNvPr id="35" name="Rounded Rectangle 34"/>
          <p:cNvSpPr/>
          <p:nvPr/>
        </p:nvSpPr>
        <p:spPr>
          <a:xfrm>
            <a:off x="8046720" y="2286000"/>
            <a:ext cx="3429000" cy="3520440"/>
          </a:xfrm>
          <a:prstGeom prst="roundRect">
            <a:avLst>
              <a:gd name="adj" fmla="val 2207"/>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59521" y="2296972"/>
            <a:ext cx="3403396" cy="457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84464" y="2615184"/>
            <a:ext cx="1005840" cy="420624"/>
          </a:xfrm>
          <a:prstGeom prst="rect">
            <a:avLst/>
          </a:prstGeom>
          <a:noFill/>
        </p:spPr>
        <p:txBody>
          <a:bodyPr wrap="square" lIns="0" rIns="0" tIns="0" bIns="0" anchor="t">
            <a:spAutoFit/>
          </a:bodyPr>
          <a:lstStyle/>
          <a:p>
            <a:pPr algn="l"/>
            <a:r>
              <a:rPr sz="2500" b="1" i="0">
                <a:solidFill>
                  <a:srgbClr val="6D28D9"/>
                </a:solidFill>
                <a:latin typeface="Arial"/>
              </a:rPr>
              <a:t>03</a:t>
            </a:r>
          </a:p>
        </p:txBody>
      </p:sp>
      <p:sp>
        <p:nvSpPr>
          <p:cNvPr id="38" name="TextBox 37"/>
          <p:cNvSpPr txBox="1"/>
          <p:nvPr/>
        </p:nvSpPr>
        <p:spPr>
          <a:xfrm>
            <a:off x="8284464" y="3163824"/>
            <a:ext cx="2953512" cy="548640"/>
          </a:xfrm>
          <a:prstGeom prst="rect">
            <a:avLst/>
          </a:prstGeom>
          <a:noFill/>
        </p:spPr>
        <p:txBody>
          <a:bodyPr wrap="square" lIns="0" rIns="0" tIns="0" bIns="0" anchor="t">
            <a:spAutoFit/>
          </a:bodyPr>
          <a:lstStyle/>
          <a:p>
            <a:pPr algn="l">
              <a:lnSpc>
                <a:spcPct val="115000"/>
              </a:lnSpc>
            </a:pPr>
            <a:r>
              <a:rPr sz="1450" b="1" i="0">
                <a:solidFill>
                  <a:srgbClr val="0B1F2A"/>
                </a:solidFill>
                <a:latin typeface="Arial"/>
              </a:rPr>
              <a:t>BM25 sometimes returns nothing</a:t>
            </a:r>
          </a:p>
        </p:txBody>
      </p:sp>
      <p:sp>
        <p:nvSpPr>
          <p:cNvPr id="39" name="TextBox 38"/>
          <p:cNvSpPr txBox="1"/>
          <p:nvPr/>
        </p:nvSpPr>
        <p:spPr>
          <a:xfrm>
            <a:off x="8284464" y="3858768"/>
            <a:ext cx="2953512" cy="1828800"/>
          </a:xfrm>
          <a:prstGeom prst="rect">
            <a:avLst/>
          </a:prstGeom>
          <a:noFill/>
        </p:spPr>
        <p:txBody>
          <a:bodyPr wrap="square" lIns="0" rIns="0" tIns="0" bIns="0" anchor="t">
            <a:spAutoFit/>
          </a:bodyPr>
          <a:lstStyle/>
          <a:p>
            <a:pPr algn="l">
              <a:lnSpc>
                <a:spcPct val="130000"/>
              </a:lnSpc>
            </a:pPr>
            <a:r>
              <a:rPr sz="1140" b="0" i="0">
                <a:solidFill>
                  <a:srgbClr val="33475B"/>
                </a:solidFill>
                <a:latin typeface="Arial"/>
              </a:rPr>
              <a:t>On paraphrase queries it scored zero relevant notes several times. Semantic search never did. That asymmetry is invisible in a mean and obvious to a user.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Mounika Maddula</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LIMITS</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Limitations</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What we did not do, and why</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These are deliberate boundaries and known weaknesses, not oversights discovered afterwards.</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Mounika Maddula  •  10:50–11:20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Oval 24"/>
          <p:cNvSpPr/>
          <p:nvPr/>
        </p:nvSpPr>
        <p:spPr>
          <a:xfrm>
            <a:off x="530352" y="2400300"/>
            <a:ext cx="96012" cy="9601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1" y="2322576"/>
            <a:ext cx="5029200" cy="658368"/>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The corpus and the gold set were both written by us, after reading the same material</a:t>
            </a:r>
          </a:p>
        </p:txBody>
      </p:sp>
      <p:sp>
        <p:nvSpPr>
          <p:cNvPr id="27" name="Oval 26"/>
          <p:cNvSpPr/>
          <p:nvPr/>
        </p:nvSpPr>
        <p:spPr>
          <a:xfrm>
            <a:off x="530352" y="3150108"/>
            <a:ext cx="96012" cy="9601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1" y="3072384"/>
            <a:ext cx="5029200" cy="658368"/>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Thirty queries is well under the fifty a test collection would normally use</a:t>
            </a:r>
          </a:p>
        </p:txBody>
      </p:sp>
      <p:sp>
        <p:nvSpPr>
          <p:cNvPr id="29" name="Oval 28"/>
          <p:cNvSpPr/>
          <p:nvPr/>
        </p:nvSpPr>
        <p:spPr>
          <a:xfrm>
            <a:off x="530352" y="3899915"/>
            <a:ext cx="96012" cy="9601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3822191"/>
            <a:ext cx="5029200" cy="658368"/>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Whitespace tokenisation only approximates the model tokeniser</a:t>
            </a:r>
          </a:p>
        </p:txBody>
      </p:sp>
      <p:sp>
        <p:nvSpPr>
          <p:cNvPr id="31" name="Oval 30"/>
          <p:cNvSpPr/>
          <p:nvPr/>
        </p:nvSpPr>
        <p:spPr>
          <a:xfrm>
            <a:off x="530352" y="4649724"/>
            <a:ext cx="96012" cy="9601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1" y="4572000"/>
            <a:ext cx="5029200" cy="658368"/>
          </a:xfrm>
          <a:prstGeom prst="rect">
            <a:avLst/>
          </a:prstGeom>
          <a:noFill/>
        </p:spPr>
        <p:txBody>
          <a:bodyPr wrap="square" lIns="0" rIns="0" tIns="0" bIns="0" anchor="t">
            <a:spAutoFit/>
          </a:bodyPr>
          <a:lstStyle/>
          <a:p>
            <a:pPr algn="l">
              <a:lnSpc>
                <a:spcPct val="120000"/>
              </a:lnSpc>
            </a:pPr>
            <a:r>
              <a:rPr sz="1240" b="0" i="0">
                <a:solidFill>
                  <a:srgbClr val="33475B"/>
                </a:solidFill>
                <a:latin typeface="Arial"/>
              </a:rPr>
              <a:t>The local backend is exact search, so its latency is not comparable with hosted ANN</a:t>
            </a:r>
          </a:p>
        </p:txBody>
      </p:sp>
      <p:sp>
        <p:nvSpPr>
          <p:cNvPr id="33" name="Rounded Rectangle 32"/>
          <p:cNvSpPr/>
          <p:nvPr/>
        </p:nvSpPr>
        <p:spPr>
          <a:xfrm>
            <a:off x="6309360" y="2249424"/>
            <a:ext cx="5166360" cy="2871216"/>
          </a:xfrm>
          <a:prstGeom prst="roundRect">
            <a:avLst>
              <a:gd name="adj" fmla="val 2707"/>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322161" y="2260396"/>
            <a:ext cx="514075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2468880"/>
            <a:ext cx="4690872" cy="256032"/>
          </a:xfrm>
          <a:prstGeom prst="rect">
            <a:avLst/>
          </a:prstGeom>
          <a:noFill/>
        </p:spPr>
        <p:txBody>
          <a:bodyPr wrap="square" lIns="0" rIns="0" tIns="0" bIns="0" anchor="t">
            <a:spAutoFit/>
          </a:bodyPr>
          <a:lstStyle/>
          <a:p>
            <a:pPr algn="l"/>
            <a:r>
              <a:rPr sz="1100" b="1" i="0" spc="120">
                <a:solidFill>
                  <a:srgbClr val="0F766E"/>
                </a:solidFill>
                <a:latin typeface="Arial"/>
              </a:rPr>
              <a:t>DELIBERATELY OUT OF SCOPE</a:t>
            </a:r>
          </a:p>
        </p:txBody>
      </p:sp>
      <p:sp>
        <p:nvSpPr>
          <p:cNvPr id="36" name="TextBox 35"/>
          <p:cNvSpPr txBox="1"/>
          <p:nvPr/>
        </p:nvSpPr>
        <p:spPr>
          <a:xfrm>
            <a:off x="6547104" y="2779776"/>
            <a:ext cx="4690872" cy="2148840"/>
          </a:xfrm>
          <a:prstGeom prst="rect">
            <a:avLst/>
          </a:prstGeom>
          <a:noFill/>
        </p:spPr>
        <p:txBody>
          <a:bodyPr wrap="square" lIns="0" rIns="0" tIns="0" bIns="0" anchor="t">
            <a:spAutoFit/>
          </a:bodyPr>
          <a:lstStyle/>
          <a:p>
            <a:pPr algn="l">
              <a:lnSpc>
                <a:spcPct val="130000"/>
              </a:lnSpc>
            </a:pPr>
            <a:r>
              <a:rPr sz="1140" b="0" i="0">
                <a:solidFill>
                  <a:srgbClr val="33475B"/>
                </a:solidFill>
                <a:latin typeface="Arial"/>
              </a:rPr>
              <a:t>No language model, so no summarisation and no generated answers.
No inferential statistics: with thirty queries a significance test would be theatre rather than evidence.
No learned reranker, no fine-tuning, no query expansion. Each would have added a variable we could not have measured cleanly at this sample size.</a:t>
            </a:r>
          </a:p>
        </p:txBody>
      </p:sp>
      <p:sp>
        <p:nvSpPr>
          <p:cNvPr id="37" name="TextBox 36"/>
          <p:cNvSpPr txBox="1"/>
          <p:nvPr/>
        </p:nvSpPr>
        <p:spPr>
          <a:xfrm>
            <a:off x="530352" y="5541264"/>
            <a:ext cx="5303520" cy="457200"/>
          </a:xfrm>
          <a:prstGeom prst="rect">
            <a:avLst/>
          </a:prstGeom>
          <a:noFill/>
        </p:spPr>
        <p:txBody>
          <a:bodyPr wrap="square" lIns="0" rIns="0" tIns="0" bIns="0" anchor="t">
            <a:spAutoFit/>
          </a:bodyPr>
          <a:lstStyle/>
          <a:p>
            <a:pPr algn="l">
              <a:lnSpc>
                <a:spcPct val="122000"/>
              </a:lnSpc>
            </a:pPr>
            <a:r>
              <a:rPr sz="1100" b="0" i="0">
                <a:solidFill>
                  <a:srgbClr val="6B7F91"/>
                </a:solidFill>
                <a:latin typeface="Arial"/>
              </a:rPr>
              <a:t>Pointing NOTES_DIR at a real vault and rewriting the gold set is the single change that would improve every number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Venugopal Raja</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DEMO</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Live demonstration</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The same query, both modes</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Everything runs locally on this laptop. No API key, no network, one cached model.</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Venugopal Raja  •  11:20–13:30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Demo</a:t>
            </a:r>
          </a:p>
        </p:txBody>
      </p:sp>
      <p:sp>
        <p:nvSpPr>
          <p:cNvPr id="25" name="Rounded Rectangle 24"/>
          <p:cNvSpPr/>
          <p:nvPr/>
        </p:nvSpPr>
        <p:spPr>
          <a:xfrm>
            <a:off x="731520" y="2231136"/>
            <a:ext cx="10744200" cy="1444752"/>
          </a:xfrm>
          <a:prstGeom prst="roundRect">
            <a:avLst>
              <a:gd name="adj" fmla="val 537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4321" y="2242108"/>
            <a:ext cx="1071859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2505456"/>
            <a:ext cx="2377440" cy="237744"/>
          </a:xfrm>
          <a:prstGeom prst="rect">
            <a:avLst/>
          </a:prstGeom>
          <a:noFill/>
        </p:spPr>
        <p:txBody>
          <a:bodyPr wrap="square" lIns="0" rIns="0" tIns="0" bIns="0" anchor="t">
            <a:spAutoFit/>
          </a:bodyPr>
          <a:lstStyle/>
          <a:p>
            <a:pPr algn="l"/>
            <a:r>
              <a:rPr sz="1000" b="1" i="0" spc="120">
                <a:solidFill>
                  <a:srgbClr val="0F766E"/>
                </a:solidFill>
                <a:latin typeface="Arial"/>
              </a:rPr>
              <a:t>QUERY ONE</a:t>
            </a:r>
          </a:p>
        </p:txBody>
      </p:sp>
      <p:sp>
        <p:nvSpPr>
          <p:cNvPr id="28" name="TextBox 27"/>
          <p:cNvSpPr txBox="1"/>
          <p:nvPr/>
        </p:nvSpPr>
        <p:spPr>
          <a:xfrm>
            <a:off x="1005840" y="2798064"/>
            <a:ext cx="10149840" cy="402336"/>
          </a:xfrm>
          <a:prstGeom prst="rect">
            <a:avLst/>
          </a:prstGeom>
          <a:noFill/>
        </p:spPr>
        <p:txBody>
          <a:bodyPr wrap="square" lIns="0" rIns="0" tIns="0" bIns="0" anchor="t">
            <a:spAutoFit/>
          </a:bodyPr>
          <a:lstStyle/>
          <a:p>
            <a:pPr algn="l"/>
            <a:r>
              <a:rPr sz="1650" b="0" i="1">
                <a:solidFill>
                  <a:srgbClr val="0B1F2A"/>
                </a:solidFill>
                <a:latin typeface="Arial"/>
              </a:rPr>
              <a:t>“cutting a long document into pieces before indexing it”</a:t>
            </a:r>
          </a:p>
        </p:txBody>
      </p:sp>
      <p:sp>
        <p:nvSpPr>
          <p:cNvPr id="29" name="TextBox 28"/>
          <p:cNvSpPr txBox="1"/>
          <p:nvPr/>
        </p:nvSpPr>
        <p:spPr>
          <a:xfrm>
            <a:off x="1005840" y="3255264"/>
            <a:ext cx="10149840" cy="292608"/>
          </a:xfrm>
          <a:prstGeom prst="rect">
            <a:avLst/>
          </a:prstGeom>
          <a:noFill/>
        </p:spPr>
        <p:txBody>
          <a:bodyPr wrap="square" lIns="0" rIns="0" tIns="0" bIns="0" anchor="t">
            <a:spAutoFit/>
          </a:bodyPr>
          <a:lstStyle/>
          <a:p>
            <a:pPr algn="l"/>
            <a:r>
              <a:rPr sz="1160" b="0" i="0">
                <a:solidFill>
                  <a:srgbClr val="6B7F91"/>
                </a:solidFill>
                <a:latin typeface="Arial"/>
              </a:rPr>
              <a:t>Semantic returns chunking-strategies.md first. Switch the mode to Keyword and rerun: it disappears.</a:t>
            </a:r>
          </a:p>
        </p:txBody>
      </p:sp>
      <p:sp>
        <p:nvSpPr>
          <p:cNvPr id="30" name="Rounded Rectangle 29"/>
          <p:cNvSpPr/>
          <p:nvPr/>
        </p:nvSpPr>
        <p:spPr>
          <a:xfrm>
            <a:off x="731520" y="3840480"/>
            <a:ext cx="10744200" cy="1261872"/>
          </a:xfrm>
          <a:prstGeom prst="roundRect">
            <a:avLst>
              <a:gd name="adj" fmla="val 615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4321" y="3851452"/>
            <a:ext cx="10718596"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4114800"/>
            <a:ext cx="2377440" cy="237744"/>
          </a:xfrm>
          <a:prstGeom prst="rect">
            <a:avLst/>
          </a:prstGeom>
          <a:noFill/>
        </p:spPr>
        <p:txBody>
          <a:bodyPr wrap="square" lIns="0" rIns="0" tIns="0" bIns="0" anchor="t">
            <a:spAutoFit/>
          </a:bodyPr>
          <a:lstStyle/>
          <a:p>
            <a:pPr algn="l"/>
            <a:r>
              <a:rPr sz="1000" b="1" i="0" spc="120">
                <a:solidFill>
                  <a:srgbClr val="B45309"/>
                </a:solidFill>
                <a:latin typeface="Arial"/>
              </a:rPr>
              <a:t>QUERY TWO</a:t>
            </a:r>
          </a:p>
        </p:txBody>
      </p:sp>
      <p:sp>
        <p:nvSpPr>
          <p:cNvPr id="33" name="TextBox 32"/>
          <p:cNvSpPr txBox="1"/>
          <p:nvPr/>
        </p:nvSpPr>
        <p:spPr>
          <a:xfrm>
            <a:off x="1005840" y="4407408"/>
            <a:ext cx="10149840" cy="384048"/>
          </a:xfrm>
          <a:prstGeom prst="rect">
            <a:avLst/>
          </a:prstGeom>
          <a:noFill/>
        </p:spPr>
        <p:txBody>
          <a:bodyPr wrap="square" lIns="0" rIns="0" tIns="0" bIns="0" anchor="t">
            <a:spAutoFit/>
          </a:bodyPr>
          <a:lstStyle/>
          <a:p>
            <a:pPr algn="l"/>
            <a:r>
              <a:rPr sz="1650" b="0" i="1">
                <a:solidFill>
                  <a:srgbClr val="0B1F2A"/>
                </a:solidFill>
                <a:latin typeface="Arial"/>
              </a:rPr>
              <a:t>karpukhin2020dpr</a:t>
            </a:r>
          </a:p>
        </p:txBody>
      </p:sp>
      <p:sp>
        <p:nvSpPr>
          <p:cNvPr id="34" name="TextBox 33"/>
          <p:cNvSpPr txBox="1"/>
          <p:nvPr/>
        </p:nvSpPr>
        <p:spPr>
          <a:xfrm>
            <a:off x="1005840" y="4791456"/>
            <a:ext cx="10149840" cy="274320"/>
          </a:xfrm>
          <a:prstGeom prst="rect">
            <a:avLst/>
          </a:prstGeom>
          <a:noFill/>
        </p:spPr>
        <p:txBody>
          <a:bodyPr wrap="square" lIns="0" rIns="0" tIns="0" bIns="0" anchor="t">
            <a:spAutoFit/>
          </a:bodyPr>
          <a:lstStyle/>
          <a:p>
            <a:pPr algn="l"/>
            <a:r>
              <a:rPr sz="1160" b="0" i="0">
                <a:solidFill>
                  <a:srgbClr val="6B7F91"/>
                </a:solidFill>
                <a:latin typeface="Arial"/>
              </a:rPr>
              <a:t>Keyword finds it instantly, semantic ranks it second, hybrid recovers it at rank one.</a:t>
            </a:r>
          </a:p>
        </p:txBody>
      </p:sp>
      <p:sp>
        <p:nvSpPr>
          <p:cNvPr id="35" name="TextBox 34"/>
          <p:cNvSpPr txBox="1"/>
          <p:nvPr/>
        </p:nvSpPr>
        <p:spPr>
          <a:xfrm>
            <a:off x="731520" y="5321808"/>
            <a:ext cx="10744200" cy="548640"/>
          </a:xfrm>
          <a:prstGeom prst="rect">
            <a:avLst/>
          </a:prstGeom>
          <a:noFill/>
        </p:spPr>
        <p:txBody>
          <a:bodyPr wrap="square" lIns="0" rIns="0" tIns="0" bIns="0" anchor="t">
            <a:spAutoFit/>
          </a:bodyPr>
          <a:lstStyle/>
          <a:p>
            <a:pPr algn="l">
              <a:lnSpc>
                <a:spcPct val="122000"/>
              </a:lnSpc>
            </a:pPr>
            <a:r>
              <a:rPr sz="1120" b="0" i="0">
                <a:solidFill>
                  <a:srgbClr val="6B7F91"/>
                </a:solidFill>
                <a:latin typeface="Arial"/>
              </a:rPr>
              <a:t>Fallback if the model cache is unavailable: EMBEDDING_BACKEND=hashing runs the whole pipeline with no download. Results are visibly worse and we will say so rather than pretend otherwise.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81160" y="256032"/>
            <a:ext cx="2468880" cy="292608"/>
          </a:xfrm>
          <a:prstGeom prst="roundRect">
            <a:avLst>
              <a:gd name="adj" fmla="val 26562"/>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81160" y="288036"/>
            <a:ext cx="2468880" cy="237744"/>
          </a:xfrm>
          <a:prstGeom prst="rect">
            <a:avLst/>
          </a:prstGeom>
          <a:noFill/>
        </p:spPr>
        <p:txBody>
          <a:bodyPr wrap="square" lIns="0" rIns="0" tIns="0" bIns="0" anchor="t">
            <a:spAutoFit/>
          </a:bodyPr>
          <a:lstStyle/>
          <a:p>
            <a:pPr algn="ctr"/>
            <a:r>
              <a:rPr sz="1100" b="1" i="0">
                <a:solidFill>
                  <a:srgbClr val="FFFFFF"/>
                </a:solidFill>
                <a:latin typeface="Arial"/>
              </a:rPr>
              <a:t>Venkat Vivek Gopisetty</a:t>
            </a:r>
          </a:p>
        </p:txBody>
      </p:sp>
      <p:sp>
        <p:nvSpPr>
          <p:cNvPr id="6" name="TextBox 5"/>
          <p:cNvSpPr txBox="1"/>
          <p:nvPr/>
        </p:nvSpPr>
        <p:spPr>
          <a:xfrm>
            <a:off x="438912" y="256032"/>
            <a:ext cx="4206240" cy="201168"/>
          </a:xfrm>
          <a:prstGeom prst="rect">
            <a:avLst/>
          </a:prstGeom>
          <a:noFill/>
        </p:spPr>
        <p:txBody>
          <a:bodyPr wrap="square" lIns="0" rIns="0" tIns="0" bIns="0" anchor="t">
            <a:spAutoFit/>
          </a:bodyPr>
          <a:lstStyle/>
          <a:p>
            <a:pPr algn="l"/>
            <a:r>
              <a:rPr sz="1050" b="1" i="0" spc="160">
                <a:solidFill>
                  <a:srgbClr val="0F766E"/>
                </a:solidFill>
                <a:latin typeface="Arial"/>
              </a:rPr>
              <a:t>CONCLUSION</a:t>
            </a:r>
          </a:p>
        </p:txBody>
      </p:sp>
      <p:sp>
        <p:nvSpPr>
          <p:cNvPr id="7" name="TextBox 6"/>
          <p:cNvSpPr txBox="1"/>
          <p:nvPr/>
        </p:nvSpPr>
        <p:spPr>
          <a:xfrm>
            <a:off x="438912" y="530352"/>
            <a:ext cx="6400800" cy="237744"/>
          </a:xfrm>
          <a:prstGeom prst="rect">
            <a:avLst/>
          </a:prstGeom>
          <a:noFill/>
        </p:spPr>
        <p:txBody>
          <a:bodyPr wrap="square" lIns="0" rIns="0" tIns="0" bIns="0" anchor="t">
            <a:spAutoFit/>
          </a:bodyPr>
          <a:lstStyle/>
          <a:p>
            <a:pPr algn="l"/>
            <a:r>
              <a:rPr sz="1200" b="0" i="0">
                <a:solidFill>
                  <a:srgbClr val="6B7F91"/>
                </a:solidFill>
                <a:latin typeface="Arial"/>
              </a:rPr>
              <a:t>What we found</a:t>
            </a:r>
          </a:p>
        </p:txBody>
      </p:sp>
      <p:sp>
        <p:nvSpPr>
          <p:cNvPr id="8" name="TextBox 7"/>
          <p:cNvSpPr txBox="1"/>
          <p:nvPr/>
        </p:nvSpPr>
        <p:spPr>
          <a:xfrm>
            <a:off x="438912" y="841248"/>
            <a:ext cx="10607040" cy="457200"/>
          </a:xfrm>
          <a:prstGeom prst="rect">
            <a:avLst/>
          </a:prstGeom>
          <a:noFill/>
        </p:spPr>
        <p:txBody>
          <a:bodyPr wrap="square" lIns="0" rIns="0" tIns="0" bIns="0" anchor="t">
            <a:spAutoFit/>
          </a:bodyPr>
          <a:lstStyle/>
          <a:p>
            <a:pPr algn="l"/>
            <a:r>
              <a:rPr sz="2900" b="1" i="0">
                <a:solidFill>
                  <a:srgbClr val="0B1F2A"/>
                </a:solidFill>
                <a:latin typeface="Arial"/>
              </a:rPr>
              <a:t>Neither method wins. That is the result.</a:t>
            </a:r>
          </a:p>
        </p:txBody>
      </p:sp>
      <p:sp>
        <p:nvSpPr>
          <p:cNvPr id="9" name="Rectangle 8"/>
          <p:cNvSpPr/>
          <p:nvPr/>
        </p:nvSpPr>
        <p:spPr>
          <a:xfrm>
            <a:off x="457200" y="1481328"/>
            <a:ext cx="502920" cy="320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27632"/>
            <a:ext cx="8595360" cy="493776"/>
          </a:xfrm>
          <a:prstGeom prst="rect">
            <a:avLst/>
          </a:prstGeom>
          <a:noFill/>
        </p:spPr>
        <p:txBody>
          <a:bodyPr wrap="square" lIns="0" rIns="0" tIns="0" bIns="0" anchor="t">
            <a:spAutoFit/>
          </a:bodyPr>
          <a:lstStyle/>
          <a:p>
            <a:pPr algn="l">
              <a:lnSpc>
                <a:spcPct val="118000"/>
              </a:lnSpc>
            </a:pPr>
            <a:r>
              <a:rPr sz="1280" b="0" i="0">
                <a:solidFill>
                  <a:srgbClr val="33475B"/>
                </a:solidFill>
                <a:latin typeface="Arial"/>
              </a:rPr>
              <a:t>The useful question was never which retriever is better, but which one is better for which kind of question.</a:t>
            </a:r>
          </a:p>
        </p:txBody>
      </p:sp>
      <p:sp>
        <p:nvSpPr>
          <p:cNvPr id="11" name="Rectangle 10"/>
          <p:cNvSpPr/>
          <p:nvPr/>
        </p:nvSpPr>
        <p:spPr>
          <a:xfrm>
            <a:off x="438912" y="6345936"/>
            <a:ext cx="1133856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473952"/>
            <a:ext cx="4206240" cy="201168"/>
          </a:xfrm>
          <a:prstGeom prst="rect">
            <a:avLst/>
          </a:prstGeom>
          <a:noFill/>
        </p:spPr>
        <p:txBody>
          <a:bodyPr wrap="square" lIns="0" rIns="0" tIns="0" bIns="0" anchor="t">
            <a:spAutoFit/>
          </a:bodyPr>
          <a:lstStyle/>
          <a:p>
            <a:pPr algn="l"/>
            <a:r>
              <a:rPr sz="960" b="0" i="0">
                <a:solidFill>
                  <a:srgbClr val="6B7F91"/>
                </a:solidFill>
                <a:latin typeface="Arial"/>
              </a:rPr>
              <a:t>Venkat Vivek Gopisetty  •  13:30–14:20</a:t>
            </a:r>
          </a:p>
        </p:txBody>
      </p:sp>
      <p:sp>
        <p:nvSpPr>
          <p:cNvPr id="13" name="Rounded Rectangle 12"/>
          <p:cNvSpPr/>
          <p:nvPr/>
        </p:nvSpPr>
        <p:spPr>
          <a:xfrm>
            <a:off x="6492240"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Problem</a:t>
            </a:r>
          </a:p>
        </p:txBody>
      </p:sp>
      <p:sp>
        <p:nvSpPr>
          <p:cNvPr id="15" name="Rounded Rectangle 14"/>
          <p:cNvSpPr/>
          <p:nvPr/>
        </p:nvSpPr>
        <p:spPr>
          <a:xfrm>
            <a:off x="736091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1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System</a:t>
            </a:r>
          </a:p>
        </p:txBody>
      </p:sp>
      <p:sp>
        <p:nvSpPr>
          <p:cNvPr id="17" name="Rounded Rectangle 16"/>
          <p:cNvSpPr/>
          <p:nvPr/>
        </p:nvSpPr>
        <p:spPr>
          <a:xfrm>
            <a:off x="822959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Method</a:t>
            </a:r>
          </a:p>
        </p:txBody>
      </p:sp>
      <p:sp>
        <p:nvSpPr>
          <p:cNvPr id="19" name="Rounded Rectangle 18"/>
          <p:cNvSpPr/>
          <p:nvPr/>
        </p:nvSpPr>
        <p:spPr>
          <a:xfrm>
            <a:off x="9098279" y="6441948"/>
            <a:ext cx="804672" cy="219456"/>
          </a:xfrm>
          <a:prstGeom prst="roundRect">
            <a:avLst>
              <a:gd name="adj" fmla="val 35416"/>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79" y="6478524"/>
            <a:ext cx="804672" cy="182880"/>
          </a:xfrm>
          <a:prstGeom prst="rect">
            <a:avLst/>
          </a:prstGeom>
          <a:noFill/>
        </p:spPr>
        <p:txBody>
          <a:bodyPr wrap="square" lIns="0" rIns="0" tIns="0" bIns="0" anchor="t">
            <a:spAutoFit/>
          </a:bodyPr>
          <a:lstStyle/>
          <a:p>
            <a:pPr algn="ctr"/>
            <a:r>
              <a:rPr sz="840" b="1" i="0">
                <a:solidFill>
                  <a:srgbClr val="FFFFFF"/>
                </a:solidFill>
                <a:latin typeface="Arial"/>
              </a:rPr>
              <a:t>Results</a:t>
            </a:r>
          </a:p>
        </p:txBody>
      </p:sp>
      <p:sp>
        <p:nvSpPr>
          <p:cNvPr id="21" name="Rounded Rectangle 20"/>
          <p:cNvSpPr/>
          <p:nvPr/>
        </p:nvSpPr>
        <p:spPr>
          <a:xfrm>
            <a:off x="996695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5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Limits</a:t>
            </a:r>
          </a:p>
        </p:txBody>
      </p:sp>
      <p:sp>
        <p:nvSpPr>
          <p:cNvPr id="23" name="Rounded Rectangle 22"/>
          <p:cNvSpPr/>
          <p:nvPr/>
        </p:nvSpPr>
        <p:spPr>
          <a:xfrm>
            <a:off x="10835639" y="6441948"/>
            <a:ext cx="804672" cy="219456"/>
          </a:xfrm>
          <a:prstGeom prst="roundRect">
            <a:avLst>
              <a:gd name="adj" fmla="val 35416"/>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39" y="6478524"/>
            <a:ext cx="804672" cy="182880"/>
          </a:xfrm>
          <a:prstGeom prst="rect">
            <a:avLst/>
          </a:prstGeom>
          <a:noFill/>
        </p:spPr>
        <p:txBody>
          <a:bodyPr wrap="square" lIns="0" rIns="0" tIns="0" bIns="0" anchor="t">
            <a:spAutoFit/>
          </a:bodyPr>
          <a:lstStyle/>
          <a:p>
            <a:pPr algn="ctr"/>
            <a:r>
              <a:rPr sz="840" b="0" i="0">
                <a:solidFill>
                  <a:srgbClr val="6B7F91"/>
                </a:solidFill>
                <a:latin typeface="Arial"/>
              </a:rPr>
              <a:t>Demo</a:t>
            </a:r>
          </a:p>
        </p:txBody>
      </p:sp>
      <p:sp>
        <p:nvSpPr>
          <p:cNvPr id="25" name="Rounded Rectangle 24"/>
          <p:cNvSpPr/>
          <p:nvPr/>
        </p:nvSpPr>
        <p:spPr>
          <a:xfrm>
            <a:off x="731520" y="2286000"/>
            <a:ext cx="3429000"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4321" y="2296972"/>
            <a:ext cx="3403396" cy="45720"/>
          </a:xfrm>
          <a:prstGeom prst="rect">
            <a:avLst/>
          </a:prstGeom>
          <a:solidFill>
            <a:srgbClr val="6B7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2505456"/>
            <a:ext cx="3429000" cy="384048"/>
          </a:xfrm>
          <a:prstGeom prst="rect">
            <a:avLst/>
          </a:prstGeom>
          <a:noFill/>
        </p:spPr>
        <p:txBody>
          <a:bodyPr wrap="square" lIns="0" rIns="0" tIns="0" bIns="0" anchor="t">
            <a:spAutoFit/>
          </a:bodyPr>
          <a:lstStyle/>
          <a:p>
            <a:pPr algn="ctr"/>
            <a:r>
              <a:rPr sz="2500" b="1" i="0">
                <a:solidFill>
                  <a:srgbClr val="6B7F91"/>
                </a:solidFill>
                <a:latin typeface="Arial"/>
              </a:rPr>
              <a:t>23 / 30</a:t>
            </a:r>
          </a:p>
        </p:txBody>
      </p:sp>
      <p:sp>
        <p:nvSpPr>
          <p:cNvPr id="28" name="TextBox 27"/>
          <p:cNvSpPr txBox="1"/>
          <p:nvPr/>
        </p:nvSpPr>
        <p:spPr>
          <a:xfrm>
            <a:off x="731520" y="2916936"/>
            <a:ext cx="3429000" cy="237744"/>
          </a:xfrm>
          <a:prstGeom prst="rect">
            <a:avLst/>
          </a:prstGeom>
          <a:noFill/>
        </p:spPr>
        <p:txBody>
          <a:bodyPr wrap="square" lIns="0" rIns="0" tIns="0" bIns="0" anchor="t">
            <a:spAutoFit/>
          </a:bodyPr>
          <a:lstStyle/>
          <a:p>
            <a:pPr algn="ctr"/>
            <a:r>
              <a:rPr sz="940" b="0" i="0">
                <a:solidFill>
                  <a:srgbClr val="6B7F91"/>
                </a:solidFill>
                <a:latin typeface="Arial"/>
              </a:rPr>
              <a:t>queries tied</a:t>
            </a:r>
          </a:p>
        </p:txBody>
      </p:sp>
      <p:sp>
        <p:nvSpPr>
          <p:cNvPr id="29" name="Rounded Rectangle 28"/>
          <p:cNvSpPr/>
          <p:nvPr/>
        </p:nvSpPr>
        <p:spPr>
          <a:xfrm>
            <a:off x="4389120" y="2286000"/>
            <a:ext cx="3429000"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01921" y="2296972"/>
            <a:ext cx="340339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0" y="2505456"/>
            <a:ext cx="3429000" cy="384048"/>
          </a:xfrm>
          <a:prstGeom prst="rect">
            <a:avLst/>
          </a:prstGeom>
          <a:noFill/>
        </p:spPr>
        <p:txBody>
          <a:bodyPr wrap="square" lIns="0" rIns="0" tIns="0" bIns="0" anchor="t">
            <a:spAutoFit/>
          </a:bodyPr>
          <a:lstStyle/>
          <a:p>
            <a:pPr algn="ctr"/>
            <a:r>
              <a:rPr sz="2500" b="1" i="0">
                <a:solidFill>
                  <a:srgbClr val="0F766E"/>
                </a:solidFill>
                <a:latin typeface="Arial"/>
              </a:rPr>
              <a:t>+0.175</a:t>
            </a:r>
          </a:p>
        </p:txBody>
      </p:sp>
      <p:sp>
        <p:nvSpPr>
          <p:cNvPr id="32" name="TextBox 31"/>
          <p:cNvSpPr txBox="1"/>
          <p:nvPr/>
        </p:nvSpPr>
        <p:spPr>
          <a:xfrm>
            <a:off x="4389120" y="2916936"/>
            <a:ext cx="3429000" cy="237744"/>
          </a:xfrm>
          <a:prstGeom prst="rect">
            <a:avLst/>
          </a:prstGeom>
          <a:noFill/>
        </p:spPr>
        <p:txBody>
          <a:bodyPr wrap="square" lIns="0" rIns="0" tIns="0" bIns="0" anchor="t">
            <a:spAutoFit/>
          </a:bodyPr>
          <a:lstStyle/>
          <a:p>
            <a:pPr algn="ctr"/>
            <a:r>
              <a:rPr sz="940" b="0" i="0">
                <a:solidFill>
                  <a:srgbClr val="6B7F91"/>
                </a:solidFill>
                <a:latin typeface="Arial"/>
              </a:rPr>
              <a:t>semantic MRR on paraphrases</a:t>
            </a:r>
          </a:p>
        </p:txBody>
      </p:sp>
      <p:sp>
        <p:nvSpPr>
          <p:cNvPr id="33" name="Rounded Rectangle 32"/>
          <p:cNvSpPr/>
          <p:nvPr/>
        </p:nvSpPr>
        <p:spPr>
          <a:xfrm>
            <a:off x="8046720" y="2286000"/>
            <a:ext cx="3429000" cy="932688"/>
          </a:xfrm>
          <a:prstGeom prst="roundRect">
            <a:avLst>
              <a:gd name="adj" fmla="val 8333"/>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59521" y="2296972"/>
            <a:ext cx="3403396"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0" y="2505456"/>
            <a:ext cx="3429000" cy="384048"/>
          </a:xfrm>
          <a:prstGeom prst="rect">
            <a:avLst/>
          </a:prstGeom>
          <a:noFill/>
        </p:spPr>
        <p:txBody>
          <a:bodyPr wrap="square" lIns="0" rIns="0" tIns="0" bIns="0" anchor="t">
            <a:spAutoFit/>
          </a:bodyPr>
          <a:lstStyle/>
          <a:p>
            <a:pPr algn="ctr"/>
            <a:r>
              <a:rPr sz="2500" b="1" i="0">
                <a:solidFill>
                  <a:srgbClr val="B45309"/>
                </a:solidFill>
                <a:latin typeface="Arial"/>
              </a:rPr>
              <a:t>1.000</a:t>
            </a:r>
          </a:p>
        </p:txBody>
      </p:sp>
      <p:sp>
        <p:nvSpPr>
          <p:cNvPr id="36" name="TextBox 35"/>
          <p:cNvSpPr txBox="1"/>
          <p:nvPr/>
        </p:nvSpPr>
        <p:spPr>
          <a:xfrm>
            <a:off x="8046720" y="2916936"/>
            <a:ext cx="3429000" cy="237744"/>
          </a:xfrm>
          <a:prstGeom prst="rect">
            <a:avLst/>
          </a:prstGeom>
          <a:noFill/>
        </p:spPr>
        <p:txBody>
          <a:bodyPr wrap="square" lIns="0" rIns="0" tIns="0" bIns="0" anchor="t">
            <a:spAutoFit/>
          </a:bodyPr>
          <a:lstStyle/>
          <a:p>
            <a:pPr algn="ctr"/>
            <a:r>
              <a:rPr sz="940" b="0" i="0">
                <a:solidFill>
                  <a:srgbClr val="6B7F91"/>
                </a:solidFill>
                <a:latin typeface="Arial"/>
              </a:rPr>
              <a:t>keyword MRR on exact tokens</a:t>
            </a:r>
          </a:p>
        </p:txBody>
      </p:sp>
      <p:sp>
        <p:nvSpPr>
          <p:cNvPr id="37" name="Rounded Rectangle 36"/>
          <p:cNvSpPr/>
          <p:nvPr/>
        </p:nvSpPr>
        <p:spPr>
          <a:xfrm>
            <a:off x="731520" y="3621024"/>
            <a:ext cx="10744200" cy="2240280"/>
          </a:xfrm>
          <a:prstGeom prst="roundRect">
            <a:avLst>
              <a:gd name="adj" fmla="val 3469"/>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44321" y="3631996"/>
            <a:ext cx="1071859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9264" y="3840480"/>
            <a:ext cx="10268712" cy="256032"/>
          </a:xfrm>
          <a:prstGeom prst="rect">
            <a:avLst/>
          </a:prstGeom>
          <a:noFill/>
        </p:spPr>
        <p:txBody>
          <a:bodyPr wrap="square" lIns="0" rIns="0" tIns="0" bIns="0" anchor="t">
            <a:spAutoFit/>
          </a:bodyPr>
          <a:lstStyle/>
          <a:p>
            <a:pPr algn="l"/>
            <a:r>
              <a:rPr sz="1100" b="1" i="0" spc="120">
                <a:solidFill>
                  <a:srgbClr val="0F766E"/>
                </a:solidFill>
                <a:latin typeface="Arial"/>
              </a:rPr>
              <a:t>WHERE WE WOULD TAKE IT NEXT</a:t>
            </a:r>
          </a:p>
        </p:txBody>
      </p:sp>
      <p:sp>
        <p:nvSpPr>
          <p:cNvPr id="40" name="TextBox 39"/>
          <p:cNvSpPr txBox="1"/>
          <p:nvPr/>
        </p:nvSpPr>
        <p:spPr>
          <a:xfrm>
            <a:off x="969264" y="4151376"/>
            <a:ext cx="4892040" cy="1508760"/>
          </a:xfrm>
          <a:prstGeom prst="rect">
            <a:avLst/>
          </a:prstGeom>
          <a:noFill/>
        </p:spPr>
        <p:txBody>
          <a:bodyPr wrap="square" lIns="0" rIns="0" tIns="0" bIns="0" anchor="t">
            <a:spAutoFit/>
          </a:bodyPr>
          <a:lstStyle/>
          <a:p>
            <a:pPr algn="l">
              <a:lnSpc>
                <a:spcPct val="130000"/>
              </a:lnSpc>
            </a:pPr>
            <a:r>
              <a:rPr sz="1220" b="0" i="0">
                <a:solidFill>
                  <a:srgbClr val="33475B"/>
                </a:solidFill>
                <a:latin typeface="Arial"/>
              </a:rPr>
              <a:t>Run it against a real vault rather than a corpus we wrote, and have somebody outside the group write the queries. Both would make every number here more trustworthy, and neither is hard.</a:t>
            </a:r>
          </a:p>
        </p:txBody>
      </p:sp>
      <p:sp>
        <p:nvSpPr>
          <p:cNvPr id="41" name="Rectangle 40"/>
          <p:cNvSpPr/>
          <p:nvPr/>
        </p:nvSpPr>
        <p:spPr>
          <a:xfrm>
            <a:off x="6199632" y="4114800"/>
            <a:ext cx="7315" cy="132588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10528" y="4151376"/>
            <a:ext cx="4754880" cy="1508760"/>
          </a:xfrm>
          <a:prstGeom prst="rect">
            <a:avLst/>
          </a:prstGeom>
          <a:noFill/>
        </p:spPr>
        <p:txBody>
          <a:bodyPr wrap="square" lIns="0" rIns="0" tIns="0" bIns="0" anchor="t">
            <a:spAutoFit/>
          </a:bodyPr>
          <a:lstStyle/>
          <a:p>
            <a:pPr algn="l">
              <a:lnSpc>
                <a:spcPct val="130000"/>
              </a:lnSpc>
            </a:pPr>
            <a:r>
              <a:rPr sz="1220" b="0" i="0">
                <a:solidFill>
                  <a:srgbClr val="33475B"/>
                </a:solidFill>
                <a:latin typeface="Arial"/>
              </a:rPr>
              <a:t>Route the query by type instead of choosing a method: a rare-token query goes to BM25, everything else to the encoder. Our own results say that would beat either arm alone.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967728" y="868680"/>
            <a:ext cx="7315" cy="5074920"/>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7315200" cy="256032"/>
          </a:xfrm>
          <a:prstGeom prst="rect">
            <a:avLst/>
          </a:prstGeom>
          <a:noFill/>
        </p:spPr>
        <p:txBody>
          <a:bodyPr wrap="square" lIns="0" rIns="0" tIns="0" bIns="0" anchor="t">
            <a:spAutoFit/>
          </a:bodyPr>
          <a:lstStyle/>
          <a:p>
            <a:pPr algn="l"/>
            <a:r>
              <a:rPr sz="1100" b="1" i="0" spc="200">
                <a:solidFill>
                  <a:srgbClr val="0F766E"/>
                </a:solidFill>
                <a:latin typeface="Arial"/>
              </a:rPr>
              <a:t>THANK YOU</a:t>
            </a:r>
          </a:p>
        </p:txBody>
      </p:sp>
      <p:sp>
        <p:nvSpPr>
          <p:cNvPr id="6" name="TextBox 5"/>
          <p:cNvSpPr txBox="1"/>
          <p:nvPr/>
        </p:nvSpPr>
        <p:spPr>
          <a:xfrm>
            <a:off x="731520" y="1499616"/>
            <a:ext cx="5852160" cy="868680"/>
          </a:xfrm>
          <a:prstGeom prst="rect">
            <a:avLst/>
          </a:prstGeom>
          <a:noFill/>
        </p:spPr>
        <p:txBody>
          <a:bodyPr wrap="square" lIns="0" rIns="0" tIns="0" bIns="0" anchor="t">
            <a:spAutoFit/>
          </a:bodyPr>
          <a:lstStyle/>
          <a:p>
            <a:pPr algn="l"/>
            <a:r>
              <a:rPr sz="4600" b="1" i="0">
                <a:solidFill>
                  <a:srgbClr val="0B1F2A"/>
                </a:solidFill>
                <a:latin typeface="Arial"/>
              </a:rPr>
              <a:t>Questions</a:t>
            </a:r>
          </a:p>
        </p:txBody>
      </p:sp>
      <p:sp>
        <p:nvSpPr>
          <p:cNvPr id="7" name="Rectangle 6"/>
          <p:cNvSpPr/>
          <p:nvPr/>
        </p:nvSpPr>
        <p:spPr>
          <a:xfrm>
            <a:off x="749808" y="2542032"/>
            <a:ext cx="1005840"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816352"/>
            <a:ext cx="5669280" cy="566928"/>
          </a:xfrm>
          <a:prstGeom prst="rect">
            <a:avLst/>
          </a:prstGeom>
          <a:noFill/>
        </p:spPr>
        <p:txBody>
          <a:bodyPr wrap="square" lIns="0" rIns="0" tIns="0" bIns="0" anchor="t">
            <a:spAutoFit/>
          </a:bodyPr>
          <a:lstStyle/>
          <a:p>
            <a:pPr algn="l">
              <a:lnSpc>
                <a:spcPct val="120000"/>
              </a:lnSpc>
            </a:pPr>
            <a:r>
              <a:rPr sz="1450" b="0" i="0">
                <a:solidFill>
                  <a:srgbClr val="33475B"/>
                </a:solidFill>
                <a:latin typeface="Arial"/>
              </a:rPr>
              <a:t>Semantic Search over Personal Notes using Pinecone ANN Retrieval</a:t>
            </a:r>
          </a:p>
        </p:txBody>
      </p:sp>
      <p:sp>
        <p:nvSpPr>
          <p:cNvPr id="9" name="TextBox 8"/>
          <p:cNvSpPr txBox="1"/>
          <p:nvPr/>
        </p:nvSpPr>
        <p:spPr>
          <a:xfrm>
            <a:off x="749808" y="3785615"/>
            <a:ext cx="1737360" cy="219456"/>
          </a:xfrm>
          <a:prstGeom prst="rect">
            <a:avLst/>
          </a:prstGeom>
          <a:noFill/>
        </p:spPr>
        <p:txBody>
          <a:bodyPr wrap="square" lIns="0" rIns="0" tIns="0" bIns="0" anchor="t">
            <a:spAutoFit/>
          </a:bodyPr>
          <a:lstStyle/>
          <a:p>
            <a:pPr algn="l"/>
            <a:r>
              <a:rPr sz="1150" b="1" i="0">
                <a:solidFill>
                  <a:srgbClr val="0B1F2A"/>
                </a:solidFill>
                <a:latin typeface="Arial"/>
              </a:rPr>
              <a:t>noterecall/</a:t>
            </a:r>
          </a:p>
        </p:txBody>
      </p:sp>
      <p:sp>
        <p:nvSpPr>
          <p:cNvPr id="10" name="TextBox 9"/>
          <p:cNvSpPr txBox="1"/>
          <p:nvPr/>
        </p:nvSpPr>
        <p:spPr>
          <a:xfrm>
            <a:off x="2487168" y="3785615"/>
            <a:ext cx="3931920" cy="219456"/>
          </a:xfrm>
          <a:prstGeom prst="rect">
            <a:avLst/>
          </a:prstGeom>
          <a:noFill/>
        </p:spPr>
        <p:txBody>
          <a:bodyPr wrap="square" lIns="0" rIns="0" tIns="0" bIns="0" anchor="t">
            <a:spAutoFit/>
          </a:bodyPr>
          <a:lstStyle/>
          <a:p>
            <a:pPr algn="l"/>
            <a:r>
              <a:rPr sz="1150" b="0" i="0">
                <a:solidFill>
                  <a:srgbClr val="6B7F91"/>
                </a:solidFill>
                <a:latin typeface="Arial"/>
              </a:rPr>
              <a:t>the pipeline</a:t>
            </a:r>
          </a:p>
        </p:txBody>
      </p:sp>
      <p:sp>
        <p:nvSpPr>
          <p:cNvPr id="11" name="TextBox 10"/>
          <p:cNvSpPr txBox="1"/>
          <p:nvPr/>
        </p:nvSpPr>
        <p:spPr>
          <a:xfrm>
            <a:off x="749808" y="4096512"/>
            <a:ext cx="1737360" cy="219456"/>
          </a:xfrm>
          <a:prstGeom prst="rect">
            <a:avLst/>
          </a:prstGeom>
          <a:noFill/>
        </p:spPr>
        <p:txBody>
          <a:bodyPr wrap="square" lIns="0" rIns="0" tIns="0" bIns="0" anchor="t">
            <a:spAutoFit/>
          </a:bodyPr>
          <a:lstStyle/>
          <a:p>
            <a:pPr algn="l"/>
            <a:r>
              <a:rPr sz="1150" b="1" i="0">
                <a:solidFill>
                  <a:srgbClr val="0B1F2A"/>
                </a:solidFill>
                <a:latin typeface="Arial"/>
              </a:rPr>
              <a:t>evaluation/</a:t>
            </a:r>
          </a:p>
        </p:txBody>
      </p:sp>
      <p:sp>
        <p:nvSpPr>
          <p:cNvPr id="12" name="TextBox 11"/>
          <p:cNvSpPr txBox="1"/>
          <p:nvPr/>
        </p:nvSpPr>
        <p:spPr>
          <a:xfrm>
            <a:off x="2487168" y="4096512"/>
            <a:ext cx="3931920" cy="219456"/>
          </a:xfrm>
          <a:prstGeom prst="rect">
            <a:avLst/>
          </a:prstGeom>
          <a:noFill/>
        </p:spPr>
        <p:txBody>
          <a:bodyPr wrap="square" lIns="0" rIns="0" tIns="0" bIns="0" anchor="t">
            <a:spAutoFit/>
          </a:bodyPr>
          <a:lstStyle/>
          <a:p>
            <a:pPr algn="l"/>
            <a:r>
              <a:rPr sz="1150" b="0" i="0">
                <a:solidFill>
                  <a:srgbClr val="6B7F91"/>
                </a:solidFill>
                <a:latin typeface="Arial"/>
              </a:rPr>
              <a:t>the harness</a:t>
            </a:r>
          </a:p>
        </p:txBody>
      </p:sp>
      <p:sp>
        <p:nvSpPr>
          <p:cNvPr id="13" name="TextBox 12"/>
          <p:cNvSpPr txBox="1"/>
          <p:nvPr/>
        </p:nvSpPr>
        <p:spPr>
          <a:xfrm>
            <a:off x="749808" y="4407408"/>
            <a:ext cx="1737360" cy="219456"/>
          </a:xfrm>
          <a:prstGeom prst="rect">
            <a:avLst/>
          </a:prstGeom>
          <a:noFill/>
        </p:spPr>
        <p:txBody>
          <a:bodyPr wrap="square" lIns="0" rIns="0" tIns="0" bIns="0" anchor="t">
            <a:spAutoFit/>
          </a:bodyPr>
          <a:lstStyle/>
          <a:p>
            <a:pPr algn="l"/>
            <a:r>
              <a:rPr sz="1150" b="1" i="0">
                <a:solidFill>
                  <a:srgbClr val="0B1F2A"/>
                </a:solidFill>
                <a:latin typeface="Arial"/>
              </a:rPr>
              <a:t>results/</a:t>
            </a:r>
          </a:p>
        </p:txBody>
      </p:sp>
      <p:sp>
        <p:nvSpPr>
          <p:cNvPr id="14" name="TextBox 13"/>
          <p:cNvSpPr txBox="1"/>
          <p:nvPr/>
        </p:nvSpPr>
        <p:spPr>
          <a:xfrm>
            <a:off x="2487168" y="4407408"/>
            <a:ext cx="3931920" cy="219456"/>
          </a:xfrm>
          <a:prstGeom prst="rect">
            <a:avLst/>
          </a:prstGeom>
          <a:noFill/>
        </p:spPr>
        <p:txBody>
          <a:bodyPr wrap="square" lIns="0" rIns="0" tIns="0" bIns="0" anchor="t">
            <a:spAutoFit/>
          </a:bodyPr>
          <a:lstStyle/>
          <a:p>
            <a:pPr algn="l"/>
            <a:r>
              <a:rPr sz="1150" b="0" i="0">
                <a:solidFill>
                  <a:srgbClr val="6B7F91"/>
                </a:solidFill>
                <a:latin typeface="Arial"/>
              </a:rPr>
              <a:t>the numbers</a:t>
            </a:r>
          </a:p>
        </p:txBody>
      </p:sp>
      <p:sp>
        <p:nvSpPr>
          <p:cNvPr id="15" name="TextBox 14"/>
          <p:cNvSpPr txBox="1"/>
          <p:nvPr/>
        </p:nvSpPr>
        <p:spPr>
          <a:xfrm>
            <a:off x="749808" y="4718304"/>
            <a:ext cx="1737360" cy="219456"/>
          </a:xfrm>
          <a:prstGeom prst="rect">
            <a:avLst/>
          </a:prstGeom>
          <a:noFill/>
        </p:spPr>
        <p:txBody>
          <a:bodyPr wrap="square" lIns="0" rIns="0" tIns="0" bIns="0" anchor="t">
            <a:spAutoFit/>
          </a:bodyPr>
          <a:lstStyle/>
          <a:p>
            <a:pPr algn="l"/>
            <a:r>
              <a:rPr sz="1150" b="1" i="0">
                <a:solidFill>
                  <a:srgbClr val="0B1F2A"/>
                </a:solidFill>
                <a:latin typeface="Arial"/>
              </a:rPr>
              <a:t>data/notes/</a:t>
            </a:r>
          </a:p>
        </p:txBody>
      </p:sp>
      <p:sp>
        <p:nvSpPr>
          <p:cNvPr id="16" name="TextBox 15"/>
          <p:cNvSpPr txBox="1"/>
          <p:nvPr/>
        </p:nvSpPr>
        <p:spPr>
          <a:xfrm>
            <a:off x="2487168" y="4718304"/>
            <a:ext cx="3931920" cy="219456"/>
          </a:xfrm>
          <a:prstGeom prst="rect">
            <a:avLst/>
          </a:prstGeom>
          <a:noFill/>
        </p:spPr>
        <p:txBody>
          <a:bodyPr wrap="square" lIns="0" rIns="0" tIns="0" bIns="0" anchor="t">
            <a:spAutoFit/>
          </a:bodyPr>
          <a:lstStyle/>
          <a:p>
            <a:pPr algn="l"/>
            <a:r>
              <a:rPr sz="1150" b="0" i="0">
                <a:solidFill>
                  <a:srgbClr val="6B7F91"/>
                </a:solidFill>
                <a:latin typeface="Arial"/>
              </a:rPr>
              <a:t>the corpus</a:t>
            </a:r>
          </a:p>
        </p:txBody>
      </p:sp>
      <p:sp>
        <p:nvSpPr>
          <p:cNvPr id="17" name="Rounded Rectangle 16"/>
          <p:cNvSpPr/>
          <p:nvPr/>
        </p:nvSpPr>
        <p:spPr>
          <a:xfrm>
            <a:off x="7296912" y="1097280"/>
            <a:ext cx="4434840" cy="4526280"/>
          </a:xfrm>
          <a:prstGeom prst="roundRect">
            <a:avLst>
              <a:gd name="adj" fmla="val 1717"/>
            </a:avLst>
          </a:prstGeom>
          <a:solidFill>
            <a:srgbClr val="F5F7FA"/>
          </a:solidFill>
          <a:ln w="11430">
            <a:solidFill>
              <a:srgbClr val="DF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09713" y="1108252"/>
            <a:ext cx="4409236"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1316736"/>
            <a:ext cx="3959352" cy="256032"/>
          </a:xfrm>
          <a:prstGeom prst="rect">
            <a:avLst/>
          </a:prstGeom>
          <a:noFill/>
        </p:spPr>
        <p:txBody>
          <a:bodyPr wrap="square" lIns="0" rIns="0" tIns="0" bIns="0" anchor="t">
            <a:spAutoFit/>
          </a:bodyPr>
          <a:lstStyle/>
          <a:p>
            <a:pPr algn="l"/>
            <a:r>
              <a:rPr sz="1100" b="1" i="0" spc="120">
                <a:solidFill>
                  <a:srgbClr val="0F766E"/>
                </a:solidFill>
                <a:latin typeface="Arial"/>
              </a:rPr>
              <a:t>RUN IT YOURSELF</a:t>
            </a:r>
          </a:p>
        </p:txBody>
      </p:sp>
      <p:sp>
        <p:nvSpPr>
          <p:cNvPr id="20" name="TextBox 19"/>
          <p:cNvSpPr txBox="1"/>
          <p:nvPr/>
        </p:nvSpPr>
        <p:spPr>
          <a:xfrm>
            <a:off x="7534656" y="1700784"/>
            <a:ext cx="3959352" cy="256032"/>
          </a:xfrm>
          <a:prstGeom prst="rect">
            <a:avLst/>
          </a:prstGeom>
          <a:noFill/>
        </p:spPr>
        <p:txBody>
          <a:bodyPr wrap="square" lIns="0" rIns="0" tIns="0" bIns="0" anchor="t">
            <a:spAutoFit/>
          </a:bodyPr>
          <a:lstStyle/>
          <a:p>
            <a:pPr algn="l"/>
            <a:r>
              <a:rPr sz="1050" b="0" i="0">
                <a:solidFill>
                  <a:srgbClr val="33475B"/>
                </a:solidFill>
                <a:latin typeface="Courier New"/>
              </a:rPr>
              <a:t>pip install -r requirements.txt</a:t>
            </a:r>
          </a:p>
        </p:txBody>
      </p:sp>
      <p:sp>
        <p:nvSpPr>
          <p:cNvPr id="21" name="TextBox 20"/>
          <p:cNvSpPr txBox="1"/>
          <p:nvPr/>
        </p:nvSpPr>
        <p:spPr>
          <a:xfrm>
            <a:off x="7534656" y="2084831"/>
            <a:ext cx="3959352" cy="256032"/>
          </a:xfrm>
          <a:prstGeom prst="rect">
            <a:avLst/>
          </a:prstGeom>
          <a:noFill/>
        </p:spPr>
        <p:txBody>
          <a:bodyPr wrap="square" lIns="0" rIns="0" tIns="0" bIns="0" anchor="t">
            <a:spAutoFit/>
          </a:bodyPr>
          <a:lstStyle/>
          <a:p>
            <a:pPr algn="l"/>
            <a:r>
              <a:rPr sz="1050" b="0" i="0">
                <a:solidFill>
                  <a:srgbClr val="33475B"/>
                </a:solidFill>
                <a:latin typeface="Courier New"/>
              </a:rPr>
              <a:t>python -m noterecall index</a:t>
            </a:r>
          </a:p>
        </p:txBody>
      </p:sp>
      <p:sp>
        <p:nvSpPr>
          <p:cNvPr id="22" name="TextBox 21"/>
          <p:cNvSpPr txBox="1"/>
          <p:nvPr/>
        </p:nvSpPr>
        <p:spPr>
          <a:xfrm>
            <a:off x="7534656" y="2468880"/>
            <a:ext cx="3959352" cy="256032"/>
          </a:xfrm>
          <a:prstGeom prst="rect">
            <a:avLst/>
          </a:prstGeom>
          <a:noFill/>
        </p:spPr>
        <p:txBody>
          <a:bodyPr wrap="square" lIns="0" rIns="0" tIns="0" bIns="0" anchor="t">
            <a:spAutoFit/>
          </a:bodyPr>
          <a:lstStyle/>
          <a:p>
            <a:pPr algn="l"/>
            <a:r>
              <a:rPr sz="1050" b="0" i="0">
                <a:solidFill>
                  <a:srgbClr val="33475B"/>
                </a:solidFill>
                <a:latin typeface="Courier New"/>
              </a:rPr>
              <a:t>python -m noterecall search "..."</a:t>
            </a:r>
          </a:p>
        </p:txBody>
      </p:sp>
      <p:sp>
        <p:nvSpPr>
          <p:cNvPr id="23" name="TextBox 22"/>
          <p:cNvSpPr txBox="1"/>
          <p:nvPr/>
        </p:nvSpPr>
        <p:spPr>
          <a:xfrm>
            <a:off x="7534656" y="2852928"/>
            <a:ext cx="3959352" cy="256032"/>
          </a:xfrm>
          <a:prstGeom prst="rect">
            <a:avLst/>
          </a:prstGeom>
          <a:noFill/>
        </p:spPr>
        <p:txBody>
          <a:bodyPr wrap="square" lIns="0" rIns="0" tIns="0" bIns="0" anchor="t">
            <a:spAutoFit/>
          </a:bodyPr>
          <a:lstStyle/>
          <a:p>
            <a:pPr algn="l"/>
            <a:r>
              <a:rPr sz="1050" b="0" i="0">
                <a:solidFill>
                  <a:srgbClr val="33475B"/>
                </a:solidFill>
                <a:latin typeface="Courier New"/>
              </a:rPr>
              <a:t>python -m evaluation.run_eval</a:t>
            </a:r>
          </a:p>
        </p:txBody>
      </p:sp>
      <p:sp>
        <p:nvSpPr>
          <p:cNvPr id="24" name="Rectangle 23"/>
          <p:cNvSpPr/>
          <p:nvPr/>
        </p:nvSpPr>
        <p:spPr>
          <a:xfrm>
            <a:off x="7534656" y="3364992"/>
            <a:ext cx="3959352"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34656" y="3584448"/>
            <a:ext cx="3959352" cy="1645920"/>
          </a:xfrm>
          <a:prstGeom prst="rect">
            <a:avLst/>
          </a:prstGeom>
          <a:noFill/>
        </p:spPr>
        <p:txBody>
          <a:bodyPr wrap="square" lIns="0" rIns="0" tIns="0" bIns="0" anchor="t">
            <a:spAutoFit/>
          </a:bodyPr>
          <a:lstStyle/>
          <a:p>
            <a:pPr algn="l">
              <a:lnSpc>
                <a:spcPct val="128000"/>
              </a:lnSpc>
            </a:pPr>
            <a:r>
              <a:rPr sz="1120" b="0" i="0">
                <a:solidFill>
                  <a:srgbClr val="6B7F91"/>
                </a:solidFill>
                <a:latin typeface="Arial"/>
              </a:rPr>
              <a:t>No API key at any point. The last command regenerates every number on these slides in about ten seconds, so anything here can be checked rather than taken on trust.</a:t>
            </a:r>
          </a:p>
        </p:txBody>
      </p:sp>
      <p:sp>
        <p:nvSpPr>
          <p:cNvPr id="26" name="Rectangle 25"/>
          <p:cNvSpPr/>
          <p:nvPr/>
        </p:nvSpPr>
        <p:spPr>
          <a:xfrm>
            <a:off x="731520" y="6035040"/>
            <a:ext cx="11018520" cy="7315"/>
          </a:xfrm>
          <a:prstGeom prst="rect">
            <a:avLst/>
          </a:prstGeom>
          <a:solidFill>
            <a:srgbClr val="DF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6217920"/>
            <a:ext cx="10881360" cy="237744"/>
          </a:xfrm>
          <a:prstGeom prst="rect">
            <a:avLst/>
          </a:prstGeom>
          <a:noFill/>
        </p:spPr>
        <p:txBody>
          <a:bodyPr wrap="square" lIns="0" rIns="0" tIns="0" bIns="0" anchor="t">
            <a:spAutoFit/>
          </a:bodyPr>
          <a:lstStyle/>
          <a:p>
            <a:pPr algn="l"/>
            <a:r>
              <a:rPr sz="1050" b="0" i="0">
                <a:solidFill>
                  <a:srgbClr val="6B7F91"/>
                </a:solidFill>
                <a:latin typeface="Arial"/>
              </a:rPr>
              <a:t>Venkat Vivek Gopisetty  •  Nithinreddy Duggireddy  •  Venugopal Raja  •  Mounika Maddula  •  Vinay Krishna Kommalapati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2013-01-27T09:14:16Z</dcterms:created>
  <dcterms:modified xsi:type="dcterms:W3CDTF">2013-01-27T09:15:58Z</dcterms:modified>
  <cp:category/>
</cp:coreProperties>
</file>